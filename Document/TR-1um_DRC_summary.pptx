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68" r:id="rId15"/>
    <p:sldId id="269" r:id="rId16"/>
    <p:sldId id="277" r:id="rId17"/>
    <p:sldId id="278" r:id="rId18"/>
    <p:sldId id="280" r:id="rId19"/>
    <p:sldId id="285" r:id="rId20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31"/>
    <p:restoredTop sz="94218"/>
  </p:normalViewPr>
  <p:slideViewPr>
    <p:cSldViewPr snapToGrid="0">
      <p:cViewPr varScale="1">
        <p:scale>
          <a:sx n="116" d="100"/>
          <a:sy n="116" d="100"/>
        </p:scale>
        <p:origin x="3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6409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2026/01/01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</a:p>
        </p:txBody>
      </p:sp>
      <p:pic>
        <p:nvPicPr>
          <p:cNvPr id="4" name="Picture 3" descr="A table with text and numbers&#10;&#10;AI-generated content may be incorrect.">
            <a:extLst>
              <a:ext uri="{FF2B5EF4-FFF2-40B4-BE49-F238E27FC236}">
                <a16:creationId xmlns:a16="http://schemas.microsoft.com/office/drawing/2014/main" id="{5BE2BE09-7306-4A1C-AC7E-A2BC5F872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094" y="461665"/>
            <a:ext cx="6395812" cy="633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3011812" y="200231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2531212" y="54000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2951669" y="208764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3011812" y="105401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2531212" y="59723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4361484" y="54000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4361484" y="59723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2951669" y="119020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4842084" y="200231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4781941" y="208764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4842084" y="1054010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4781941" y="119020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4158" y="372946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2395989" y="356741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3064830" y="3429000"/>
            <a:ext cx="2206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4471" y="481887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2396302" y="465682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3122573" y="451841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5218265" y="356741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5982020" y="342900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5218265" y="465682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5982020" y="451841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2534403" y="305966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5356678" y="305966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5536678" y="37423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5531893" y="483172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2898425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B7AAF8E-8B5B-9BC6-B202-33012D090D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2756222"/>
              </p:ext>
            </p:extLst>
          </p:nvPr>
        </p:nvGraphicFramePr>
        <p:xfrm>
          <a:off x="7740000" y="540000"/>
          <a:ext cx="4271999" cy="1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87815446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58694424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7499643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0071313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50426467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898953372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861674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WN.Z1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AP+AC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4048561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WN.Z2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AP+AR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498499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CO.Z1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AA+GC+GR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25708162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CO.Z3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291412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V1.Z1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5938426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V1.Z2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535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1ACE4B-7D1A-8304-A0B2-5F725A674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17644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675201804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57319967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0531222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4254800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5327533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421918098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430073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9256721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8177395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345807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825242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1077594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337558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22214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29182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0721529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15720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50887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36174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337771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405092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4383275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8915412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068495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83129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80115151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83263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4573010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4598017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AFFB2A9-461E-4DF6-0B97-9C7679CF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221330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1212256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927161900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45905246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1428038921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161838585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638228789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073265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0850911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7400638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35776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827697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727928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442913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200640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520166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75543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80850709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3885582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614529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6816799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111538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60006783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099013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1626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937580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9152435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346438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>
            <a:off x="2776518" y="137547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25EA30-B491-CCF2-0BA2-3660DDB40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6934210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4018029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94938990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1833771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622190964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40424158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2678591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038528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66176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46090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4628682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1560399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720251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762929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98545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538959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53783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90573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75306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605731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CO.PG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GC(G)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515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22778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6553052" y="5601492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AF928A-1630-FD4A-9ED9-F2CF8F0E4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38947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6406548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24694281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7879732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3013889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83978763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48983584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77094234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6282648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3284985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4290051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1905862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13880259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479786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028836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8491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395879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45869014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625964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42110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620061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44317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644875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72244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6716782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097640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22892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FAE2DEC-5C0D-8C41-D89B-43D4DC19B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748257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0307012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110875928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9387338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33970106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1639359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99659940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65298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006852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32773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02188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9032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948482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891404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09400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6263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8007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6759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3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48829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6813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66528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68969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428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graphicFrame>
        <p:nvGraphicFramePr>
          <p:cNvPr id="158" name="Table 157">
            <a:extLst>
              <a:ext uri="{FF2B5EF4-FFF2-40B4-BE49-F238E27FC236}">
                <a16:creationId xmlns:a16="http://schemas.microsoft.com/office/drawing/2014/main" id="{ABB6F537-08FF-1578-E941-0A4D6B57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72033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224341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113157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2956577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7238071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4662512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61516939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95223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36102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94137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11923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935559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719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6136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91924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072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841909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868944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886053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1.6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1464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46574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958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403449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86185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PO.M1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PO.M2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5026508" y="2075850"/>
            <a:ext cx="90774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5102746" y="21923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236AC6-0CB5-36B1-F9A1-9013375BFA56}"/>
              </a:ext>
            </a:extLst>
          </p:cNvPr>
          <p:cNvCxnSpPr>
            <a:cxnSpLocks/>
          </p:cNvCxnSpPr>
          <p:nvPr/>
        </p:nvCxnSpPr>
        <p:spPr>
          <a:xfrm flipH="1">
            <a:off x="5206510" y="2435851"/>
            <a:ext cx="71999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EC50BB5D-69A9-B623-1329-06F4871370A9}"/>
              </a:ext>
            </a:extLst>
          </p:cNvPr>
          <p:cNvSpPr txBox="1"/>
          <p:nvPr/>
        </p:nvSpPr>
        <p:spPr>
          <a:xfrm flipH="1">
            <a:off x="5095002" y="2552309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V1.M2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5026508" y="5552363"/>
            <a:ext cx="1575293" cy="961651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6577710-862C-41AC-A861-B41892F8C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06369"/>
              </p:ext>
            </p:extLst>
          </p:nvPr>
        </p:nvGraphicFramePr>
        <p:xfrm>
          <a:off x="7740000" y="540000"/>
          <a:ext cx="4271999" cy="406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662038476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812856559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81841546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16692719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48827177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34319994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8947883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1788875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2440231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145972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1855371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403059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103990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3482004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987147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22116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080221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4816502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1006153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3228721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0902905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22588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217E-ABEE-29D2-7C17-1BF1BBA2C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BCA2-7BF3-736F-F610-BA68D29A5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216535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BE9863-C83C-E320-433A-B5654593295F}"/>
              </a:ext>
            </a:extLst>
          </p:cNvPr>
          <p:cNvSpPr/>
          <p:nvPr/>
        </p:nvSpPr>
        <p:spPr>
          <a:xfrm>
            <a:off x="1017270" y="1006157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Design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7E010-84C8-3A2B-FCD3-AFFB8570F5CE}"/>
              </a:ext>
            </a:extLst>
          </p:cNvPr>
          <p:cNvSpPr/>
          <p:nvPr/>
        </p:nvSpPr>
        <p:spPr>
          <a:xfrm>
            <a:off x="1017270" y="1989219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(simulation)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5D78D0-6051-D111-D44A-D7EB963B3426}"/>
              </a:ext>
            </a:extLst>
          </p:cNvPr>
          <p:cNvSpPr/>
          <p:nvPr/>
        </p:nvSpPr>
        <p:spPr>
          <a:xfrm>
            <a:off x="1017270" y="2972281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Layout Design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(Drawing Layer)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7680D8-4390-B7B7-536A-FC579D75E21F}"/>
              </a:ext>
            </a:extLst>
          </p:cNvPr>
          <p:cNvSpPr/>
          <p:nvPr/>
        </p:nvSpPr>
        <p:spPr>
          <a:xfrm>
            <a:off x="1017270" y="3955343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(DRC/LVS)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815386-03BA-A085-A0A5-9699AB715E23}"/>
              </a:ext>
            </a:extLst>
          </p:cNvPr>
          <p:cNvSpPr/>
          <p:nvPr/>
        </p:nvSpPr>
        <p:spPr>
          <a:xfrm>
            <a:off x="1017270" y="493840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by Extracted net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C07ACD-44E6-D523-1B36-9023930EC1C2}"/>
              </a:ext>
            </a:extLst>
          </p:cNvPr>
          <p:cNvSpPr/>
          <p:nvPr/>
        </p:nvSpPr>
        <p:spPr>
          <a:xfrm>
            <a:off x="4656000" y="1006157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MDP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(Generate Masks/DLXXX)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597823-3298-2312-D74D-D5CE86991AAF}"/>
              </a:ext>
            </a:extLst>
          </p:cNvPr>
          <p:cNvSpPr/>
          <p:nvPr/>
        </p:nvSpPr>
        <p:spPr>
          <a:xfrm>
            <a:off x="4656000" y="1989219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 for Mask Layers)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3A22AF-3577-C333-9AF5-B87876E02059}"/>
              </a:ext>
            </a:extLst>
          </p:cNvPr>
          <p:cNvSpPr/>
          <p:nvPr/>
        </p:nvSpPr>
        <p:spPr>
          <a:xfrm>
            <a:off x="4656000" y="2972281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Tapeout to Fab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21B7E7-5E00-31BB-8D94-47874A1F39ED}"/>
              </a:ext>
            </a:extLst>
          </p:cNvPr>
          <p:cNvSpPr/>
          <p:nvPr/>
        </p:nvSpPr>
        <p:spPr>
          <a:xfrm>
            <a:off x="8294730" y="1006157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 in Fab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F9E5BB5-A61C-9EE9-9A7A-DA78B4CC1879}"/>
              </a:ext>
            </a:extLst>
          </p:cNvPr>
          <p:cNvSpPr txBox="1">
            <a:spLocks/>
          </p:cNvSpPr>
          <p:nvPr/>
        </p:nvSpPr>
        <p:spPr>
          <a:xfrm>
            <a:off x="465600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A8566B6-64FE-AD55-ED33-76FB85B3469B}"/>
              </a:ext>
            </a:extLst>
          </p:cNvPr>
          <p:cNvSpPr txBox="1">
            <a:spLocks/>
          </p:cNvSpPr>
          <p:nvPr/>
        </p:nvSpPr>
        <p:spPr>
          <a:xfrm>
            <a:off x="829473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Fab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FE2E0C-E01A-95BA-A4BE-F40B577564F8}"/>
              </a:ext>
            </a:extLst>
          </p:cNvPr>
          <p:cNvSpPr/>
          <p:nvPr/>
        </p:nvSpPr>
        <p:spPr>
          <a:xfrm>
            <a:off x="8294730" y="1989219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Mask Fabrication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5C86A1-77A7-B20B-E17A-1F0AD6E95388}"/>
              </a:ext>
            </a:extLst>
          </p:cNvPr>
          <p:cNvSpPr/>
          <p:nvPr/>
        </p:nvSpPr>
        <p:spPr>
          <a:xfrm>
            <a:off x="1017270" y="592146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Pull req to OpenSUSI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DC928F-17E9-B539-415B-5562DBF6DA2E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245727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2843A3C-F116-9046-0E01-9D58B7A9222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45727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26DB089-C247-7ABB-D5CE-986D8B707E5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457270" y="3692281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001B583-897E-4637-C2C9-0F8E46AE7508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2457270" y="4675343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3E8A211-961D-C7EE-4A79-EA1854A63241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>
            <a:off x="2457270" y="5658405"/>
            <a:ext cx="0" cy="26306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DD7C67-DE6C-08E0-CD0C-A9506D87FCC5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609600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3B5D0B0-E48A-C399-3976-20D4C0965EBA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609600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A6E84EE-08E6-90EE-7190-E934A38B4B73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973473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950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02EFA-6E0D-3370-EB82-3E7B5F7CF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1548A-68F6-1E68-D225-4DB5DE2FA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質問・確認事項</a:t>
            </a: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r>
              <a:rPr lang="en-JP" sz="32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2026/01/06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132665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CDC25-1030-79F6-1C10-FE05ABFF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4AF72EFC-FBD7-1836-C7C9-C0D1D3BFF5A5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DIODE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383CF-264E-A8EC-58BF-D04A30893ADF}"/>
              </a:ext>
            </a:extLst>
          </p:cNvPr>
          <p:cNvSpPr txBox="1"/>
          <p:nvPr/>
        </p:nvSpPr>
        <p:spPr>
          <a:xfrm>
            <a:off x="578623" y="938673"/>
            <a:ext cx="112688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リファレンス・マニュアルTable I-1-1によればダイオードはP/NどちらもPM+NMインプラと記載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DP：PM+NM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DN：PM+NM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リファレンス・マニュアル図6.1/6.2にも同様の指示あるが、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リファレンス・マニュアル図6.12/6.13に(ESD)では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</a:t>
            </a:r>
          </a:p>
          <a:p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と指示がある。本当はどちらでしょう？違う場合は、Spiceモデルを公開頂けますと幸いです。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また、ESD用NMOSのSPICEモデルも公開頂けますと幸いです。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412784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nip Same Side Corner Rectangle 1">
            <a:extLst>
              <a:ext uri="{FF2B5EF4-FFF2-40B4-BE49-F238E27FC236}">
                <a16:creationId xmlns:a16="http://schemas.microsoft.com/office/drawing/2014/main" id="{A75C1C9C-A70E-6958-A47F-EB6C50D3A40B}"/>
              </a:ext>
            </a:extLst>
          </p:cNvPr>
          <p:cNvSpPr/>
          <p:nvPr/>
        </p:nvSpPr>
        <p:spPr>
          <a:xfrm>
            <a:off x="1571158" y="1269000"/>
            <a:ext cx="1008000" cy="2160000"/>
          </a:xfrm>
          <a:prstGeom prst="snip2SameRect">
            <a:avLst>
              <a:gd name="adj1" fmla="val 36052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2A69F3-7B72-B748-C5AD-DB3ACC5719C7}"/>
              </a:ext>
            </a:extLst>
          </p:cNvPr>
          <p:cNvSpPr/>
          <p:nvPr/>
        </p:nvSpPr>
        <p:spPr>
          <a:xfrm>
            <a:off x="1856119" y="1819829"/>
            <a:ext cx="413399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lvl1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290DC6D-1BA9-AB38-E1D2-8446AC03F074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3DA428-BCA1-FDE9-91EE-CA4D17E52931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52EEF9-D7D0-6394-1A8A-B5EE5D29382B}"/>
              </a:ext>
            </a:extLst>
          </p:cNvPr>
          <p:cNvCxnSpPr>
            <a:cxnSpLocks/>
          </p:cNvCxnSpPr>
          <p:nvPr/>
        </p:nvCxnSpPr>
        <p:spPr>
          <a:xfrm>
            <a:off x="2255158" y="1999829"/>
            <a:ext cx="324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E616D74-D2DD-2E37-CAD5-BA5168F90EDB}"/>
              </a:ext>
            </a:extLst>
          </p:cNvPr>
          <p:cNvCxnSpPr>
            <a:cxnSpLocks/>
          </p:cNvCxnSpPr>
          <p:nvPr/>
        </p:nvCxnSpPr>
        <p:spPr>
          <a:xfrm>
            <a:off x="2221672" y="1268998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D8077E-BFF2-5421-BCF8-0990D8E50590}"/>
              </a:ext>
            </a:extLst>
          </p:cNvPr>
          <p:cNvCxnSpPr>
            <a:cxnSpLocks/>
          </p:cNvCxnSpPr>
          <p:nvPr/>
        </p:nvCxnSpPr>
        <p:spPr>
          <a:xfrm>
            <a:off x="2581672" y="1268998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88464A-6BFA-8D8F-7A6C-F6C3003D2B6B}"/>
              </a:ext>
            </a:extLst>
          </p:cNvPr>
          <p:cNvCxnSpPr>
            <a:cxnSpLocks/>
          </p:cNvCxnSpPr>
          <p:nvPr/>
        </p:nvCxnSpPr>
        <p:spPr>
          <a:xfrm>
            <a:off x="2075158" y="126900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8A54684-5D37-AE6A-E073-1E1180D05D44}"/>
              </a:ext>
            </a:extLst>
          </p:cNvPr>
          <p:cNvSpPr txBox="1"/>
          <p:nvPr/>
        </p:nvSpPr>
        <p:spPr>
          <a:xfrm>
            <a:off x="2611085" y="1317640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D340DC-8E6E-CB6D-CDC1-AC918BFB37CE}"/>
              </a:ext>
            </a:extLst>
          </p:cNvPr>
          <p:cNvSpPr txBox="1"/>
          <p:nvPr/>
        </p:nvSpPr>
        <p:spPr>
          <a:xfrm>
            <a:off x="2221672" y="1006635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3136C9-395E-4C13-AA6F-7F9CBF98E314}"/>
              </a:ext>
            </a:extLst>
          </p:cNvPr>
          <p:cNvSpPr txBox="1"/>
          <p:nvPr/>
        </p:nvSpPr>
        <p:spPr>
          <a:xfrm>
            <a:off x="2575772" y="1886234"/>
            <a:ext cx="1115761" cy="253916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0.8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FE4F03-347E-3341-C52C-D5334E5686F0}"/>
              </a:ext>
            </a:extLst>
          </p:cNvPr>
          <p:cNvSpPr txBox="1"/>
          <p:nvPr/>
        </p:nvSpPr>
        <p:spPr>
          <a:xfrm>
            <a:off x="1571158" y="3463038"/>
            <a:ext cx="10046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2.8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AE6CB7-5E9C-3A65-61B4-BF7A96875B6E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E2F0260-B84A-F860-43A9-15FDC8550C50}"/>
              </a:ext>
            </a:extLst>
          </p:cNvPr>
          <p:cNvSpPr txBox="1"/>
          <p:nvPr/>
        </p:nvSpPr>
        <p:spPr>
          <a:xfrm>
            <a:off x="1868852" y="2197688"/>
            <a:ext cx="525663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DEB107A-844F-58DC-6AE7-F396C2124603}"/>
              </a:ext>
            </a:extLst>
          </p:cNvPr>
          <p:cNvCxnSpPr>
            <a:cxnSpLocks/>
          </p:cNvCxnSpPr>
          <p:nvPr/>
        </p:nvCxnSpPr>
        <p:spPr>
          <a:xfrm>
            <a:off x="1808258" y="1828674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79BB489-3EAE-3206-36C8-650CC28B0F21}"/>
              </a:ext>
            </a:extLst>
          </p:cNvPr>
          <p:cNvSpPr txBox="1"/>
          <p:nvPr/>
        </p:nvSpPr>
        <p:spPr>
          <a:xfrm>
            <a:off x="1512987" y="2198443"/>
            <a:ext cx="601917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F0FCA-C5BA-BEED-5CA4-42F3C4859E45}"/>
              </a:ext>
            </a:extLst>
          </p:cNvPr>
          <p:cNvSpPr/>
          <p:nvPr/>
        </p:nvSpPr>
        <p:spPr>
          <a:xfrm>
            <a:off x="1849439" y="126824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7A06E4-6E47-6E3F-014D-7C46ADDED470}"/>
              </a:ext>
            </a:extLst>
          </p:cNvPr>
          <p:cNvSpPr/>
          <p:nvPr/>
        </p:nvSpPr>
        <p:spPr>
          <a:xfrm>
            <a:off x="2203542" y="126402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D99D71-881E-07EB-69B4-58BED062C983}"/>
              </a:ext>
            </a:extLst>
          </p:cNvPr>
          <p:cNvSpPr txBox="1"/>
          <p:nvPr/>
        </p:nvSpPr>
        <p:spPr>
          <a:xfrm>
            <a:off x="3133652" y="1704181"/>
            <a:ext cx="609515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RR抵抗幅2.8umの場合：</a:t>
            </a: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ERRR14: 0.8um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latin typeface="Meiryo" panose="020B0604030504040204" pitchFamily="34" charset="-128"/>
                <a:ea typeface="Meiryo" panose="020B0604030504040204" pitchFamily="34" charset="-128"/>
              </a:rPr>
              <a:t>RRのときは可変長コンタクト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ERRR08：１.5um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赤枠のエリアで</a:t>
            </a: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ERR08 </a:t>
            </a:r>
            <a:r>
              <a:rPr lang="ja-JP" altLang="en-US" sz="160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がエラー</a:t>
            </a:r>
            <a:endParaRPr lang="en-US" altLang="ja-JP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endParaRPr lang="en-US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 角カットを1.0&gt;0.8に変更しては？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63F33A-AED5-2F71-877E-74DC178F8138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RR details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D98EE6-73EA-7E88-9A85-968248D763C4}"/>
              </a:ext>
            </a:extLst>
          </p:cNvPr>
          <p:cNvSpPr txBox="1"/>
          <p:nvPr/>
        </p:nvSpPr>
        <p:spPr>
          <a:xfrm>
            <a:off x="2071774" y="1442571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1.5</a:t>
            </a:r>
          </a:p>
        </p:txBody>
      </p:sp>
    </p:spTree>
    <p:extLst>
      <p:ext uri="{BB962C8B-B14F-4D97-AF65-F5344CB8AC3E}">
        <p14:creationId xmlns:p14="http://schemas.microsoft.com/office/powerpoint/2010/main" val="29089834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56FBB-001D-781E-50FD-1734D8172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65B8506-D43D-EB80-292B-8F19DAD2E97D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V1 = TC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F8D75C-A261-00F3-8CA0-2D945856D8C9}"/>
              </a:ext>
            </a:extLst>
          </p:cNvPr>
          <p:cNvSpPr txBox="1"/>
          <p:nvPr/>
        </p:nvSpPr>
        <p:spPr>
          <a:xfrm>
            <a:off x="578623" y="938673"/>
            <a:ext cx="112688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TCーCO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en-US" altLang="ja-JP" dirty="0">
                <a:latin typeface="Meiryo" panose="020B0604030504040204" pitchFamily="34" charset="-128"/>
                <a:ea typeface="Meiryo" panose="020B0604030504040204" pitchFamily="34" charset="-128"/>
              </a:rPr>
              <a:t>Space	ER1506/07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TCーSG	Space	ER1508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TCーL</a:t>
            </a:r>
            <a:r>
              <a:rPr lang="en-US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の記載がない、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は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の上にあってもよいのか？</a:t>
            </a:r>
            <a:endParaRPr lang="en-US" altLang="ja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つまり、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M1-V1-M2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を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S/D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上で繋いでも良いか？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792281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1A64E-E993-3134-413B-44442E2E8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CFEAC3C4-FF98-8767-7041-F81303A81157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ESD	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C86F92-77D4-C139-AD06-7C052F0345C8}"/>
              </a:ext>
            </a:extLst>
          </p:cNvPr>
          <p:cNvSpPr txBox="1"/>
          <p:nvPr/>
        </p:nvSpPr>
        <p:spPr>
          <a:xfrm>
            <a:off x="578623" y="938673"/>
            <a:ext cx="1126881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Wmin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Lmin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	11.0/2.0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Wmax/max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の記載がない、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PMOS/NMOS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と同じ 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60.0/30.0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で良いか？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566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3313</TotalTime>
  <Words>2380</Words>
  <Application>Microsoft Macintosh PowerPoint</Application>
  <PresentationFormat>Widescreen</PresentationFormat>
  <Paragraphs>1165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  <vt:lpstr>質問・確認事項  2026/01/06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37</cp:revision>
  <cp:lastPrinted>2025-12-26T07:04:29Z</cp:lastPrinted>
  <dcterms:created xsi:type="dcterms:W3CDTF">2025-11-21T00:35:17Z</dcterms:created>
  <dcterms:modified xsi:type="dcterms:W3CDTF">2026-01-07T02:18:36Z</dcterms:modified>
</cp:coreProperties>
</file>