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embeddedFontLst>
    <p:embeddedFont>
      <p:font typeface="Play"/>
      <p:regular r:id="rId20"/>
      <p:bold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022A17-9CB6-4FA6-88F5-1CA9CFE692F7}">
  <a:tblStyle styleId="{A4022A17-9CB6-4FA6-88F5-1CA9CFE692F7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ay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Play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JP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9" name="Google Shape;73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2" name="Google Shape;76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8" name="Google Shape;76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" name="Google Shape;769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JP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JP"/>
              <a:t>Design Rules Summary</a:t>
            </a:r>
            <a:endParaRPr/>
          </a:p>
        </p:txBody>
      </p:sp>
      <p:sp>
        <p:nvSpPr>
          <p:cNvPr id="89" name="Google Shape;89;p13"/>
          <p:cNvSpPr txBox="1"/>
          <p:nvPr>
            <p:ph idx="1" type="subTitle"/>
          </p:nvPr>
        </p:nvSpPr>
        <p:spPr>
          <a:xfrm>
            <a:off x="1524000" y="3602037"/>
            <a:ext cx="9144000" cy="2133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JP"/>
              <a:t>for Drawing Layers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JP">
                <a:latin typeface="Arial"/>
                <a:ea typeface="Arial"/>
                <a:cs typeface="Arial"/>
                <a:sym typeface="Arial"/>
              </a:rPr>
              <a:t>2026/06/11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JP">
                <a:latin typeface="Arial"/>
                <a:ea typeface="Arial"/>
                <a:cs typeface="Arial"/>
                <a:sym typeface="Arial"/>
              </a:rPr>
              <a:t>Reflected GitHub issues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JP"/>
              <a:t>https://github.com/OpenSUSI/TR-1um/issues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JP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Drawing Layer Table</a:t>
            </a:r>
            <a:endParaRPr/>
          </a:p>
        </p:txBody>
      </p:sp>
      <p:pic>
        <p:nvPicPr>
          <p:cNvPr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13019" y="520420"/>
            <a:ext cx="6165961" cy="611896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JP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*IMPORTANT*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JP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DBU: 0.001um</a:t>
            </a:r>
            <a:endParaRPr/>
          </a:p>
          <a:p>
            <a:pPr indent="0" lvl="1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JP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Scale Factor: 1.0</a:t>
            </a:r>
            <a:endParaRPr/>
          </a:p>
          <a:p>
            <a:pPr indent="0" lvl="1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JP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Min Grid: 0.05um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/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JP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Cat-1: Prohibited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5"/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sp>
        <p:nvSpPr>
          <p:cNvPr id="106" name="Google Shape;106;p15"/>
          <p:cNvSpPr/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07" name="Google Shape;107;p15"/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5"/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AR</a:t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rgbClr val="E59DD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AC</a:t>
            </a:r>
            <a:endParaRPr/>
          </a:p>
        </p:txBody>
      </p:sp>
      <p:sp>
        <p:nvSpPr>
          <p:cNvPr id="115" name="Google Shape;115;p15"/>
          <p:cNvSpPr/>
          <p:nvPr/>
        </p:nvSpPr>
        <p:spPr>
          <a:xfrm>
            <a:off x="888218" y="3969495"/>
            <a:ext cx="22049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6" name="Google Shape;116;p15"/>
          <p:cNvSpPr/>
          <p:nvPr/>
        </p:nvSpPr>
        <p:spPr>
          <a:xfrm rot="-5400000">
            <a:off x="590049" y="3807445"/>
            <a:ext cx="816828" cy="5400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AP+AN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+AC+AR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+GC+GR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888531" y="5058904"/>
            <a:ext cx="22049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9" name="Google Shape;119;p15"/>
          <p:cNvSpPr/>
          <p:nvPr/>
        </p:nvSpPr>
        <p:spPr>
          <a:xfrm rot="-5400000">
            <a:off x="590362" y="4896854"/>
            <a:ext cx="816828" cy="5400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</a:t>
            </a:r>
            <a:endParaRPr/>
          </a:p>
        </p:txBody>
      </p:sp>
      <p:sp>
        <p:nvSpPr>
          <p:cNvPr id="121" name="Google Shape;121;p15"/>
          <p:cNvSpPr/>
          <p:nvPr/>
        </p:nvSpPr>
        <p:spPr>
          <a:xfrm rot="-5400000">
            <a:off x="2452205" y="3807445"/>
            <a:ext cx="816828" cy="5400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 rot="-5400000">
            <a:off x="2452205" y="4896855"/>
            <a:ext cx="816828" cy="5400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M2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CO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V1</a:t>
            </a:r>
            <a:endParaRPr/>
          </a:p>
        </p:txBody>
      </p:sp>
      <p:sp>
        <p:nvSpPr>
          <p:cNvPr id="127" name="Google Shape;127;p15"/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5"/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rgbClr val="F2CDED"/>
          </a:solidFill>
          <a:ln cap="flat" cmpd="sng" w="9525">
            <a:solidFill>
              <a:srgbClr val="BABA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Function:</a:t>
            </a:r>
            <a:b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b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Wmin/max:	L1 Width min/max</a:t>
            </a:r>
            <a:r>
              <a:rPr b="1" lang="en-JP" sz="12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Smin/max:	L1 Space min/max (L1=L2)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Smin/max:	L1 Separate L2 min/max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Emin/max:	L1 Enclosed L2  min/max</a:t>
            </a:r>
            <a:r>
              <a:rPr b="1" lang="en-JP" sz="12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Fmin/max:	L1 Enclosing L2 min/max</a:t>
            </a:r>
            <a:r>
              <a:rPr b="1" lang="en-JP" sz="12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ECmin:	MOS Endcap</a:t>
            </a: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min</a:t>
            </a:r>
            <a:endParaRPr b="1" i="0" sz="1200" u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Wfix:	L1 Windth equal</a:t>
            </a:r>
            <a:r>
              <a:rPr b="1" lang="en-JP" sz="12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Sfix:	Space equal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Donut:	L1</a:t>
            </a:r>
            <a:r>
              <a:rPr b="1" i="0" lang="en-JP" sz="1200" u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Souuounded by L2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ourier New"/>
              <a:buNone/>
            </a:pPr>
            <a:r>
              <a:rPr b="1" lang="en-JP" sz="12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None:	Not</a:t>
            </a:r>
            <a:r>
              <a:rPr b="1" lang="en-JP" sz="12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Exist</a:t>
            </a:r>
            <a:endParaRPr b="1" sz="1200" u="non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0" name="Google Shape;130;p15"/>
          <p:cNvSpPr/>
          <p:nvPr/>
        </p:nvSpPr>
        <p:spPr>
          <a:xfrm rot="-5400000">
            <a:off x="3964164" y="3807444"/>
            <a:ext cx="816828" cy="5400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 rot="-5400000">
            <a:off x="3964164" y="4896854"/>
            <a:ext cx="816828" cy="5400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M2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PO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0070C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5"/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0070C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5"/>
          <p:cNvSpPr/>
          <p:nvPr/>
        </p:nvSpPr>
        <p:spPr>
          <a:xfrm rot="-5400000">
            <a:off x="5909728" y="765375"/>
            <a:ext cx="1080000" cy="1080000"/>
          </a:xfrm>
          <a:prstGeom prst="rect">
            <a:avLst/>
          </a:prstGeom>
          <a:noFill/>
          <a:ln cap="flat" cmpd="sng" w="19050">
            <a:solidFill>
              <a:srgbClr val="0070C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38" name="Google Shape;138;p15"/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PO</a:t>
            </a:r>
            <a:endParaRPr/>
          </a:p>
        </p:txBody>
      </p:sp>
      <p:sp>
        <p:nvSpPr>
          <p:cNvPr id="139" name="Google Shape;139;p15"/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 cap="flat" cmpd="sng" w="19050">
            <a:solidFill>
              <a:srgbClr val="7030A0"/>
            </a:solidFill>
            <a:prstDash val="lg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V1(P)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V1(P)：V1 on PE</a:t>
            </a:r>
            <a:endParaRPr/>
          </a:p>
        </p:txBody>
      </p:sp>
      <p:graphicFrame>
        <p:nvGraphicFramePr>
          <p:cNvPr id="142" name="Google Shape;142;p15"/>
          <p:cNvGraphicFramePr/>
          <p:nvPr/>
        </p:nvGraphicFramePr>
        <p:xfrm>
          <a:off x="7740000" y="77923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{A4022A17-9CB6-4FA6-88F5-1CA9CFE692F7}</a:tableStyleId>
              </a:tblPr>
              <a:tblGrid>
                <a:gridCol w="659375"/>
                <a:gridCol w="659375"/>
                <a:gridCol w="1023150"/>
                <a:gridCol w="780625"/>
                <a:gridCol w="598725"/>
                <a:gridCol w="598725"/>
              </a:tblGrid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Rule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L1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L2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Func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MIN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MAX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WN.Z1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WN.Z2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WN.Z3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CO.Z1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AA+GC+GR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CO.Z3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V1.Z1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V1.Z2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PO.Z1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PO.Z2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None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PO.Z3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V1(P)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Exist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</a:tbl>
          </a:graphicData>
        </a:graphic>
      </p:graphicFrame>
      <p:sp>
        <p:nvSpPr>
          <p:cNvPr id="143" name="Google Shape;143;p15"/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</p:txBody>
      </p:sp>
      <p:sp>
        <p:nvSpPr>
          <p:cNvPr id="145" name="Google Shape;145;p15"/>
          <p:cNvSpPr/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rgbClr val="E59DD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46" name="Google Shape;146;p15"/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AC</a:t>
            </a:r>
            <a:endParaRPr/>
          </a:p>
        </p:txBody>
      </p:sp>
      <p:sp>
        <p:nvSpPr>
          <p:cNvPr id="147" name="Google Shape;147;p15"/>
          <p:cNvSpPr/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55" name="Google Shape;155;p16"/>
          <p:cNvSpPr/>
          <p:nvPr/>
        </p:nvSpPr>
        <p:spPr>
          <a:xfrm rot="-5400000">
            <a:off x="3264832" y="3370611"/>
            <a:ext cx="826049" cy="145488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156" name="Google Shape;156;p16"/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157" name="Google Shape;157;p16"/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158" name="Google Shape;158;p16"/>
            <p:cNvSpPr/>
            <p:nvPr/>
          </p:nvSpPr>
          <p:spPr>
            <a:xfrm rot="-5400000">
              <a:off x="1880418" y="4349640"/>
              <a:ext cx="1440000" cy="14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159" name="Google Shape;159;p16"/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6"/>
          <p:cNvSpPr/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63" name="Google Shape;163;p16"/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6"/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65" name="Google Shape;165;p16"/>
          <p:cNvSpPr/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AR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cxnSp>
        <p:nvCxnSpPr>
          <p:cNvPr id="168" name="Google Shape;168;p16"/>
          <p:cNvCxnSpPr/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169" name="Google Shape;169;p16"/>
          <p:cNvCxnSpPr/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170" name="Google Shape;170;p16"/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WN.S2</a:t>
            </a:r>
            <a:endParaRPr/>
          </a:p>
        </p:txBody>
      </p:sp>
      <p:cxnSp>
        <p:nvCxnSpPr>
          <p:cNvPr id="171" name="Google Shape;171;p16"/>
          <p:cNvCxnSpPr/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172" name="Google Shape;172;p16"/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6"/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AN.WR</a:t>
            </a:r>
            <a:endParaRPr/>
          </a:p>
        </p:txBody>
      </p:sp>
      <p:sp>
        <p:nvSpPr>
          <p:cNvPr id="174" name="Google Shape;174;p16"/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AR.AN</a:t>
            </a:r>
            <a:endParaRPr/>
          </a:p>
        </p:txBody>
      </p:sp>
      <p:cxnSp>
        <p:nvCxnSpPr>
          <p:cNvPr id="175" name="Google Shape;175;p16"/>
          <p:cNvCxnSpPr/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176" name="Google Shape;176;p16"/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AR.S1</a:t>
            </a:r>
            <a:endParaRPr/>
          </a:p>
        </p:txBody>
      </p:sp>
      <p:sp>
        <p:nvSpPr>
          <p:cNvPr id="177" name="Google Shape;177;p16"/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6"/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rgbClr val="E59DD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79" name="Google Shape;179;p16"/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(C)</a:t>
            </a:r>
            <a:endParaRPr/>
          </a:p>
        </p:txBody>
      </p:sp>
      <p:cxnSp>
        <p:nvCxnSpPr>
          <p:cNvPr id="180" name="Google Shape;180;p16"/>
          <p:cNvCxnSpPr>
            <a:endCxn id="158" idx="2"/>
          </p:cNvCxnSpPr>
          <p:nvPr/>
        </p:nvCxnSpPr>
        <p:spPr>
          <a:xfrm flipH="1" rot="10800000">
            <a:off x="4165598" y="5088936"/>
            <a:ext cx="239700" cy="45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181" name="Google Shape;181;p16"/>
          <p:cNvCxnSpPr/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182" name="Google Shape;182;p16"/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AN.WC</a:t>
            </a:r>
            <a:endParaRPr/>
          </a:p>
        </p:txBody>
      </p:sp>
      <p:sp>
        <p:nvSpPr>
          <p:cNvPr id="183" name="Google Shape;183;p16"/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AC.AN</a:t>
            </a:r>
            <a:endParaRPr/>
          </a:p>
        </p:txBody>
      </p:sp>
      <p:sp>
        <p:nvSpPr>
          <p:cNvPr id="184" name="Google Shape;184;p16"/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85" name="Google Shape;185;p16"/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cxnSp>
        <p:nvCxnSpPr>
          <p:cNvPr id="186" name="Google Shape;186;p16"/>
          <p:cNvCxnSpPr/>
          <p:nvPr/>
        </p:nvCxnSpPr>
        <p:spPr>
          <a:xfrm rot="10800000">
            <a:off x="3685646" y="2933024"/>
            <a:ext cx="0" cy="524679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187" name="Google Shape;187;p16"/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WN.S4</a:t>
            </a:r>
            <a:endParaRPr/>
          </a:p>
        </p:txBody>
      </p:sp>
      <p:sp>
        <p:nvSpPr>
          <p:cNvPr id="188" name="Google Shape;188;p16"/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6"/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90" name="Google Shape;190;p16"/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rgbClr val="E59DD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91" name="Google Shape;191;p16"/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AC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AR</a:t>
            </a:r>
            <a:endParaRPr/>
          </a:p>
        </p:txBody>
      </p:sp>
      <p:cxnSp>
        <p:nvCxnSpPr>
          <p:cNvPr id="193" name="Google Shape;193;p16"/>
          <p:cNvCxnSpPr/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194" name="Google Shape;194;p16"/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WN.S5</a:t>
            </a:r>
            <a:endParaRPr/>
          </a:p>
        </p:txBody>
      </p:sp>
      <p:cxnSp>
        <p:nvCxnSpPr>
          <p:cNvPr id="195" name="Google Shape;195;p16"/>
          <p:cNvCxnSpPr/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196" name="Google Shape;196;p16"/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WN.S6</a:t>
            </a:r>
            <a:endParaRPr/>
          </a:p>
        </p:txBody>
      </p:sp>
      <p:cxnSp>
        <p:nvCxnSpPr>
          <p:cNvPr id="197" name="Google Shape;197;p16"/>
          <p:cNvCxnSpPr/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198" name="Google Shape;198;p16"/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WN.S3</a:t>
            </a:r>
            <a:endParaRPr/>
          </a:p>
        </p:txBody>
      </p:sp>
      <p:cxnSp>
        <p:nvCxnSpPr>
          <p:cNvPr id="199" name="Google Shape;199;p16"/>
          <p:cNvCxnSpPr/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00" name="Google Shape;200;p16"/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AC.W1</a:t>
            </a:r>
            <a:endParaRPr/>
          </a:p>
        </p:txBody>
      </p:sp>
      <p:cxnSp>
        <p:nvCxnSpPr>
          <p:cNvPr id="201" name="Google Shape;201;p16"/>
          <p:cNvCxnSpPr/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02" name="Google Shape;202;p16"/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AR.WR</a:t>
            </a:r>
            <a:endParaRPr/>
          </a:p>
        </p:txBody>
      </p:sp>
      <p:cxnSp>
        <p:nvCxnSpPr>
          <p:cNvPr id="203" name="Google Shape;203;p16"/>
          <p:cNvCxnSpPr/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04" name="Google Shape;204;p16"/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AC.WC</a:t>
            </a:r>
            <a:endParaRPr/>
          </a:p>
        </p:txBody>
      </p:sp>
      <p:sp>
        <p:nvSpPr>
          <p:cNvPr id="205" name="Google Shape;205;p16"/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AC.S1</a:t>
            </a:r>
            <a:endParaRPr/>
          </a:p>
        </p:txBody>
      </p:sp>
      <p:cxnSp>
        <p:nvCxnSpPr>
          <p:cNvPr id="206" name="Google Shape;206;p16"/>
          <p:cNvCxnSpPr/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07" name="Google Shape;207;p16"/>
          <p:cNvCxnSpPr/>
          <p:nvPr/>
        </p:nvCxnSpPr>
        <p:spPr>
          <a:xfrm rot="10800000">
            <a:off x="6747447" y="2936304"/>
            <a:ext cx="1" cy="521399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08" name="Google Shape;208;p16"/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WN.W1</a:t>
            </a:r>
            <a:endParaRPr/>
          </a:p>
        </p:txBody>
      </p:sp>
      <p:sp>
        <p:nvSpPr>
          <p:cNvPr id="209" name="Google Shape;209;p16"/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WN.S1</a:t>
            </a:r>
            <a:endParaRPr/>
          </a:p>
        </p:txBody>
      </p:sp>
      <p:sp>
        <p:nvSpPr>
          <p:cNvPr id="210" name="Google Shape;210;p16"/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11" name="Google Shape;211;p16"/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sp>
        <p:nvSpPr>
          <p:cNvPr id="212" name="Google Shape;212;p16"/>
          <p:cNvSpPr/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13" name="Google Shape;213;p16"/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sp>
        <p:nvSpPr>
          <p:cNvPr id="214" name="Google Shape;214;p16"/>
          <p:cNvSpPr/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15" name="Google Shape;215;p16"/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cxnSp>
        <p:nvCxnSpPr>
          <p:cNvPr id="216" name="Google Shape;216;p16"/>
          <p:cNvCxnSpPr>
            <a:endCxn id="214" idx="0"/>
          </p:cNvCxnSpPr>
          <p:nvPr/>
        </p:nvCxnSpPr>
        <p:spPr>
          <a:xfrm>
            <a:off x="463602" y="4955303"/>
            <a:ext cx="0" cy="410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17" name="Google Shape;217;p16"/>
          <p:cNvSpPr/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18" name="Google Shape;218;p16"/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cxnSp>
        <p:nvCxnSpPr>
          <p:cNvPr id="219" name="Google Shape;219;p16"/>
          <p:cNvCxnSpPr>
            <a:endCxn id="217" idx="0"/>
          </p:cNvCxnSpPr>
          <p:nvPr/>
        </p:nvCxnSpPr>
        <p:spPr>
          <a:xfrm>
            <a:off x="1334919" y="4945403"/>
            <a:ext cx="0" cy="4203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20" name="Google Shape;220;p16"/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(C)</a:t>
            </a:r>
            <a:endParaRPr/>
          </a:p>
        </p:txBody>
      </p:sp>
      <p:sp>
        <p:nvSpPr>
          <p:cNvPr id="221" name="Google Shape;221;p16"/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(R)</a:t>
            </a:r>
            <a:endParaRPr/>
          </a:p>
        </p:txBody>
      </p:sp>
      <p:sp>
        <p:nvSpPr>
          <p:cNvPr id="222" name="Google Shape;222;p16"/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(R)</a:t>
            </a:r>
            <a:endParaRPr/>
          </a:p>
        </p:txBody>
      </p:sp>
      <p:sp>
        <p:nvSpPr>
          <p:cNvPr id="223" name="Google Shape;223;p16"/>
          <p:cNvSpPr/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cxnSp>
        <p:nvCxnSpPr>
          <p:cNvPr id="225" name="Google Shape;225;p16"/>
          <p:cNvCxnSpPr>
            <a:endCxn id="223" idx="0"/>
          </p:cNvCxnSpPr>
          <p:nvPr/>
        </p:nvCxnSpPr>
        <p:spPr>
          <a:xfrm>
            <a:off x="421492" y="2151804"/>
            <a:ext cx="0" cy="3525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26" name="Google Shape;226;p16"/>
          <p:cNvSpPr/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27" name="Google Shape;227;p16"/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cxnSp>
        <p:nvCxnSpPr>
          <p:cNvPr id="228" name="Google Shape;228;p16"/>
          <p:cNvCxnSpPr>
            <a:endCxn id="226" idx="0"/>
          </p:cNvCxnSpPr>
          <p:nvPr/>
        </p:nvCxnSpPr>
        <p:spPr>
          <a:xfrm>
            <a:off x="1290468" y="2173404"/>
            <a:ext cx="0" cy="3309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29" name="Google Shape;229;p16"/>
          <p:cNvSpPr/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30" name="Google Shape;230;p16"/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cxnSp>
        <p:nvCxnSpPr>
          <p:cNvPr id="231" name="Google Shape;231;p16"/>
          <p:cNvCxnSpPr>
            <a:endCxn id="229" idx="0"/>
          </p:cNvCxnSpPr>
          <p:nvPr/>
        </p:nvCxnSpPr>
        <p:spPr>
          <a:xfrm>
            <a:off x="6322383" y="5016493"/>
            <a:ext cx="0" cy="339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32" name="Google Shape;232;p16"/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WN.AN</a:t>
            </a:r>
            <a:endParaRPr/>
          </a:p>
        </p:txBody>
      </p:sp>
      <p:sp>
        <p:nvSpPr>
          <p:cNvPr id="233" name="Google Shape;233;p16"/>
          <p:cNvSpPr/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34" name="Google Shape;234;p16"/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cxnSp>
        <p:nvCxnSpPr>
          <p:cNvPr id="235" name="Google Shape;235;p16"/>
          <p:cNvCxnSpPr>
            <a:endCxn id="233" idx="0"/>
          </p:cNvCxnSpPr>
          <p:nvPr/>
        </p:nvCxnSpPr>
        <p:spPr>
          <a:xfrm>
            <a:off x="7193700" y="5006648"/>
            <a:ext cx="0" cy="339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36" name="Google Shape;236;p16"/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WN.AP</a:t>
            </a:r>
            <a:endParaRPr/>
          </a:p>
        </p:txBody>
      </p:sp>
      <p:sp>
        <p:nvSpPr>
          <p:cNvPr id="237" name="Google Shape;237;p16"/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</p:txBody>
      </p:sp>
      <p:sp>
        <p:nvSpPr>
          <p:cNvPr id="238" name="Google Shape;238;p16"/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</p:txBody>
      </p:sp>
      <p:sp>
        <p:nvSpPr>
          <p:cNvPr id="239" name="Google Shape;239;p16"/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WN.AN</a:t>
            </a:r>
            <a:endParaRPr/>
          </a:p>
        </p:txBody>
      </p:sp>
      <p:sp>
        <p:nvSpPr>
          <p:cNvPr id="240" name="Google Shape;240;p16"/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WN.AP</a:t>
            </a:r>
            <a:endParaRPr/>
          </a:p>
        </p:txBody>
      </p:sp>
      <p:sp>
        <p:nvSpPr>
          <p:cNvPr id="241" name="Google Shape;241;p16"/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WN.AN</a:t>
            </a:r>
            <a:endParaRPr/>
          </a:p>
        </p:txBody>
      </p:sp>
      <p:sp>
        <p:nvSpPr>
          <p:cNvPr id="242" name="Google Shape;242;p16"/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WN.AP</a:t>
            </a:r>
            <a:endParaRPr/>
          </a:p>
        </p:txBody>
      </p:sp>
      <p:sp>
        <p:nvSpPr>
          <p:cNvPr id="243" name="Google Shape;243;p16"/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Cat-2: WN to AP/AN/AR/AC related</a:t>
            </a:r>
            <a:endParaRPr/>
          </a:p>
        </p:txBody>
      </p:sp>
      <p:sp>
        <p:nvSpPr>
          <p:cNvPr id="244" name="Google Shape;244;p16"/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cxnSp>
        <p:nvCxnSpPr>
          <p:cNvPr id="245" name="Google Shape;245;p16"/>
          <p:cNvCxnSpPr/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46" name="Google Shape;246;p16"/>
          <p:cNvSpPr/>
          <p:nvPr/>
        </p:nvSpPr>
        <p:spPr>
          <a:xfrm rot="-54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47" name="Google Shape;247;p16"/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AC.GC</a:t>
            </a:r>
            <a:endParaRPr/>
          </a:p>
        </p:txBody>
      </p:sp>
      <p:sp>
        <p:nvSpPr>
          <p:cNvPr id="248" name="Google Shape;248;p16"/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rgbClr val="E59DD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49" name="Google Shape;249;p16"/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AC</a:t>
            </a:r>
            <a:endParaRPr/>
          </a:p>
        </p:txBody>
      </p:sp>
      <p:cxnSp>
        <p:nvCxnSpPr>
          <p:cNvPr id="250" name="Google Shape;250;p16"/>
          <p:cNvCxnSpPr/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51" name="Google Shape;251;p16"/>
          <p:cNvCxnSpPr/>
          <p:nvPr/>
        </p:nvCxnSpPr>
        <p:spPr>
          <a:xfrm rot="10800000">
            <a:off x="2857115" y="4222808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sm" w="sm" type="none"/>
          </a:ln>
        </p:spPr>
      </p:cxnSp>
      <p:cxnSp>
        <p:nvCxnSpPr>
          <p:cNvPr id="252" name="Google Shape;252;p16"/>
          <p:cNvCxnSpPr/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sm" w="sm" type="none"/>
          </a:ln>
        </p:spPr>
      </p:cxnSp>
      <p:sp>
        <p:nvSpPr>
          <p:cNvPr id="253" name="Google Shape;253;p16"/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WN(R)：WN overlapped AR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WN(C)：WN overlapped AC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AN(C)：AN in WN(C)</a:t>
            </a:r>
            <a:endParaRPr sz="1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aphicFrame>
        <p:nvGraphicFramePr>
          <p:cNvPr id="254" name="Google Shape;254;p16"/>
          <p:cNvGraphicFramePr/>
          <p:nvPr/>
        </p:nvGraphicFramePr>
        <p:xfrm>
          <a:off x="7666852" y="313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{A4022A17-9CB6-4FA6-88F5-1CA9CFE692F7}</a:tableStyleId>
              </a:tblPr>
              <a:tblGrid>
                <a:gridCol w="659375"/>
                <a:gridCol w="659375"/>
                <a:gridCol w="1023150"/>
                <a:gridCol w="780625"/>
                <a:gridCol w="598725"/>
                <a:gridCol w="598725"/>
              </a:tblGrid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Rule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L1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L2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Func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MIN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MAX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8.0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WN.S2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9.5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WN.S3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WN.S4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9.5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WN.S5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8.0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WN.S6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5.0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 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4.0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AR.WR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AN.WR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5.0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4.0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28.5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120.0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6.4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AC.WC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JP" sz="11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8.0</a:t>
                      </a:r>
                      <a:endParaRPr/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AN.WC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3.0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Sfix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AC.GC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Efix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  <a:tr h="207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AC.R1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Donut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775" marB="0" marR="7775" marL="777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"/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0" name="Google Shape;260;p17"/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2" name="Google Shape;262;p17"/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7" name="Google Shape;267;p17"/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8" name="Google Shape;268;p17"/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</p:txBody>
      </p:sp>
      <p:sp>
        <p:nvSpPr>
          <p:cNvPr id="269" name="Google Shape;269;p17"/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(M)</a:t>
            </a:r>
            <a:endParaRPr/>
          </a:p>
        </p:txBody>
      </p:sp>
      <p:sp>
        <p:nvSpPr>
          <p:cNvPr id="270" name="Google Shape;270;p17"/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(M)</a:t>
            </a:r>
            <a:endParaRPr/>
          </a:p>
        </p:txBody>
      </p:sp>
      <p:sp>
        <p:nvSpPr>
          <p:cNvPr id="271" name="Google Shape;271;p17"/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cxnSp>
        <p:nvCxnSpPr>
          <p:cNvPr id="272" name="Google Shape;272;p17"/>
          <p:cNvCxnSpPr/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73" name="Google Shape;273;p17"/>
          <p:cNvCxnSpPr>
            <a:endCxn id="265" idx="1"/>
          </p:cNvCxnSpPr>
          <p:nvPr/>
        </p:nvCxnSpPr>
        <p:spPr>
          <a:xfrm>
            <a:off x="5247542" y="2506695"/>
            <a:ext cx="8244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74" name="Google Shape;274;p17"/>
          <p:cNvCxnSpPr/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75" name="Google Shape;275;p17"/>
          <p:cNvCxnSpPr>
            <a:stCxn id="265" idx="1"/>
            <a:endCxn id="265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76" name="Google Shape;276;p17"/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277" name="Google Shape;277;p17"/>
          <p:cNvCxnSpPr>
            <a:stCxn id="276" idx="2"/>
            <a:endCxn id="265" idx="0"/>
          </p:cNvCxnSpPr>
          <p:nvPr/>
        </p:nvCxnSpPr>
        <p:spPr>
          <a:xfrm>
            <a:off x="6390478" y="1814315"/>
            <a:ext cx="5400" cy="368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78" name="Google Shape;278;p17"/>
          <p:cNvCxnSpPr/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79" name="Google Shape;279;p17"/>
          <p:cNvCxnSpPr/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80" name="Google Shape;280;p17"/>
          <p:cNvCxnSpPr>
            <a:stCxn id="267" idx="1"/>
            <a:endCxn id="267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81" name="Google Shape;281;p17"/>
          <p:cNvCxnSpPr/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282" name="Google Shape;282;p17"/>
          <p:cNvCxnSpPr>
            <a:stCxn id="267" idx="2"/>
            <a:endCxn id="259" idx="0"/>
          </p:cNvCxnSpPr>
          <p:nvPr/>
        </p:nvCxnSpPr>
        <p:spPr>
          <a:xfrm>
            <a:off x="6402589" y="4661944"/>
            <a:ext cx="4800" cy="345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83" name="Google Shape;283;p17"/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AN.S1</a:t>
            </a:r>
            <a:endParaRPr/>
          </a:p>
        </p:txBody>
      </p:sp>
      <p:sp>
        <p:nvSpPr>
          <p:cNvPr id="284" name="Google Shape;284;p17"/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AP.W1</a:t>
            </a:r>
            <a:endParaRPr/>
          </a:p>
        </p:txBody>
      </p:sp>
      <p:sp>
        <p:nvSpPr>
          <p:cNvPr id="285" name="Google Shape;285;p17"/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AN.AP</a:t>
            </a:r>
            <a:endParaRPr/>
          </a:p>
        </p:txBody>
      </p:sp>
      <p:sp>
        <p:nvSpPr>
          <p:cNvPr id="286" name="Google Shape;286;p17"/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AP.S1</a:t>
            </a:r>
            <a:endParaRPr/>
          </a:p>
        </p:txBody>
      </p:sp>
      <p:sp>
        <p:nvSpPr>
          <p:cNvPr id="287" name="Google Shape;287;p17"/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DN.AN</a:t>
            </a:r>
            <a:endParaRPr/>
          </a:p>
        </p:txBody>
      </p:sp>
      <p:sp>
        <p:nvSpPr>
          <p:cNvPr id="288" name="Google Shape;288;p17"/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AN.WM</a:t>
            </a:r>
            <a:endParaRPr/>
          </a:p>
        </p:txBody>
      </p:sp>
      <p:cxnSp>
        <p:nvCxnSpPr>
          <p:cNvPr id="289" name="Google Shape;289;p17"/>
          <p:cNvCxnSpPr/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90" name="Google Shape;290;p17"/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AN.S1</a:t>
            </a:r>
            <a:endParaRPr/>
          </a:p>
        </p:txBody>
      </p:sp>
      <p:cxnSp>
        <p:nvCxnSpPr>
          <p:cNvPr id="291" name="Google Shape;291;p17"/>
          <p:cNvCxnSpPr/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292" name="Google Shape;292;p17"/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93" name="Google Shape;293;p17"/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</a:t>
            </a:r>
            <a:endParaRPr/>
          </a:p>
        </p:txBody>
      </p:sp>
      <p:sp>
        <p:nvSpPr>
          <p:cNvPr id="294" name="Google Shape;294;p17"/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95" name="Google Shape;295;p17"/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sp>
        <p:nvSpPr>
          <p:cNvPr id="296" name="Google Shape;296;p17"/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AN.W1</a:t>
            </a:r>
            <a:endParaRPr/>
          </a:p>
        </p:txBody>
      </p:sp>
      <p:sp>
        <p:nvSpPr>
          <p:cNvPr id="297" name="Google Shape;297;p17"/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AP.WM</a:t>
            </a:r>
            <a:endParaRPr/>
          </a:p>
        </p:txBody>
      </p:sp>
      <p:sp>
        <p:nvSpPr>
          <p:cNvPr id="298" name="Google Shape;298;p17"/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DP.AP</a:t>
            </a:r>
            <a:endParaRPr/>
          </a:p>
        </p:txBody>
      </p:sp>
      <p:sp>
        <p:nvSpPr>
          <p:cNvPr id="299" name="Google Shape;299;p17"/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AP.AN</a:t>
            </a:r>
            <a:endParaRPr/>
          </a:p>
        </p:txBody>
      </p:sp>
      <p:sp>
        <p:nvSpPr>
          <p:cNvPr id="300" name="Google Shape;300;p17"/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AP.S1</a:t>
            </a:r>
            <a:endParaRPr/>
          </a:p>
        </p:txBody>
      </p:sp>
      <p:sp>
        <p:nvSpPr>
          <p:cNvPr id="301" name="Google Shape;301;p17"/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DN.S1</a:t>
            </a:r>
            <a:endParaRPr/>
          </a:p>
        </p:txBody>
      </p:sp>
      <p:sp>
        <p:nvSpPr>
          <p:cNvPr id="302" name="Google Shape;302;p17"/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04" name="Google Shape;304;p17"/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(D)</a:t>
            </a:r>
            <a:endParaRPr/>
          </a:p>
        </p:txBody>
      </p:sp>
      <p:cxnSp>
        <p:nvCxnSpPr>
          <p:cNvPr id="305" name="Google Shape;305;p17"/>
          <p:cNvCxnSpPr/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06" name="Google Shape;306;p17"/>
          <p:cNvCxnSpPr/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07" name="Google Shape;307;p17"/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DP.W1</a:t>
            </a:r>
            <a:endParaRPr/>
          </a:p>
        </p:txBody>
      </p:sp>
      <p:sp>
        <p:nvSpPr>
          <p:cNvPr id="308" name="Google Shape;308;p17"/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DP.S1</a:t>
            </a:r>
            <a:endParaRPr/>
          </a:p>
        </p:txBody>
      </p:sp>
      <p:sp>
        <p:nvSpPr>
          <p:cNvPr id="309" name="Google Shape;309;p17"/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311" name="Google Shape;311;p17"/>
          <p:cNvCxnSpPr/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12" name="Google Shape;312;p17"/>
          <p:cNvCxnSpPr/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13" name="Google Shape;313;p17"/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DN.W1</a:t>
            </a:r>
            <a:endParaRPr/>
          </a:p>
        </p:txBody>
      </p:sp>
      <p:sp>
        <p:nvSpPr>
          <p:cNvPr id="314" name="Google Shape;314;p17"/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(D)</a:t>
            </a:r>
            <a:endParaRPr/>
          </a:p>
        </p:txBody>
      </p:sp>
      <p:sp>
        <p:nvSpPr>
          <p:cNvPr id="315" name="Google Shape;315;p17"/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Cat-3: MOS transistor related</a:t>
            </a: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17" name="Google Shape;317;p17"/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cxnSp>
        <p:nvCxnSpPr>
          <p:cNvPr id="318" name="Google Shape;318;p17"/>
          <p:cNvCxnSpPr/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19" name="Google Shape;319;p17"/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DP.AN</a:t>
            </a:r>
            <a:endParaRPr/>
          </a:p>
        </p:txBody>
      </p:sp>
      <p:sp>
        <p:nvSpPr>
          <p:cNvPr id="320" name="Google Shape;320;p17"/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21" name="Google Shape;321;p17"/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cxnSp>
        <p:nvCxnSpPr>
          <p:cNvPr id="322" name="Google Shape;322;p17"/>
          <p:cNvCxnSpPr/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23" name="Google Shape;323;p17"/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DN.AP</a:t>
            </a:r>
            <a:endParaRPr/>
          </a:p>
        </p:txBody>
      </p:sp>
      <p:cxnSp>
        <p:nvCxnSpPr>
          <p:cNvPr id="324" name="Google Shape;324;p17"/>
          <p:cNvCxnSpPr/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25" name="Google Shape;325;p17"/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AP.LM</a:t>
            </a:r>
            <a:endParaRPr/>
          </a:p>
        </p:txBody>
      </p:sp>
      <p:cxnSp>
        <p:nvCxnSpPr>
          <p:cNvPr id="326" name="Google Shape;326;p17"/>
          <p:cNvCxnSpPr/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27" name="Google Shape;327;p17"/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AN.LM</a:t>
            </a:r>
            <a:endParaRPr/>
          </a:p>
        </p:txBody>
      </p:sp>
      <p:sp>
        <p:nvSpPr>
          <p:cNvPr id="328" name="Google Shape;328;p17"/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AP.WN</a:t>
            </a:r>
            <a:endParaRPr/>
          </a:p>
        </p:txBody>
      </p:sp>
      <p:cxnSp>
        <p:nvCxnSpPr>
          <p:cNvPr id="329" name="Google Shape;329;p17"/>
          <p:cNvCxnSpPr/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30" name="Google Shape;330;p17"/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AP.WN</a:t>
            </a:r>
            <a:endParaRPr/>
          </a:p>
        </p:txBody>
      </p:sp>
      <p:cxnSp>
        <p:nvCxnSpPr>
          <p:cNvPr id="331" name="Google Shape;331;p17"/>
          <p:cNvCxnSpPr/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32" name="Google Shape;332;p17"/>
          <p:cNvCxnSpPr/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33" name="Google Shape;333;p17"/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AN.WN</a:t>
            </a:r>
            <a:endParaRPr/>
          </a:p>
        </p:txBody>
      </p:sp>
      <p:sp>
        <p:nvSpPr>
          <p:cNvPr id="334" name="Google Shape;334;p17"/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AN(M)：AN-DN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AP(M)：AP-DP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WN(M)：WN overlapped AN/AP</a:t>
            </a:r>
            <a:endParaRPr/>
          </a:p>
        </p:txBody>
      </p:sp>
      <p:graphicFrame>
        <p:nvGraphicFramePr>
          <p:cNvPr id="335" name="Google Shape;335;p17"/>
          <p:cNvGraphicFramePr/>
          <p:nvPr/>
        </p:nvGraphicFramePr>
        <p:xfrm>
          <a:off x="7629834" y="5148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{A4022A17-9CB6-4FA6-88F5-1CA9CFE692F7}</a:tableStyleId>
              </a:tblPr>
              <a:tblGrid>
                <a:gridCol w="659375"/>
                <a:gridCol w="659375"/>
                <a:gridCol w="1023150"/>
                <a:gridCol w="780625"/>
                <a:gridCol w="598725"/>
                <a:gridCol w="598725"/>
              </a:tblGrid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Rule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L1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L2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Func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MIN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MAX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AP.WM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PMOS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AP-GC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60.0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AP.LM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PMOS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GC-AN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AP.WN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7.0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DP.AP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AP(M)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AN.AP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AN.WM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NMOS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AN-GC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60.0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AN.LM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NMOS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GC-AN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AN.WN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WN(M)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5.0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DN.AP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  <a:tr h="202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AN(M)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7600" marB="0" marR="7600" marL="76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8"/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8"/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2" name="Google Shape;342;p18"/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3" name="Google Shape;343;p18"/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4" name="Google Shape;344;p18"/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5" name="Google Shape;345;p18"/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6" name="Google Shape;346;p18"/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sp>
        <p:nvSpPr>
          <p:cNvPr id="347" name="Google Shape;347;p18"/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sp>
        <p:nvSpPr>
          <p:cNvPr id="348" name="Google Shape;348;p18"/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cxnSp>
        <p:nvCxnSpPr>
          <p:cNvPr id="349" name="Google Shape;349;p18"/>
          <p:cNvCxnSpPr>
            <a:stCxn id="344" idx="0"/>
          </p:cNvCxnSpPr>
          <p:nvPr/>
        </p:nvCxnSpPr>
        <p:spPr>
          <a:xfrm>
            <a:off x="3322950" y="906179"/>
            <a:ext cx="5700" cy="273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50" name="Google Shape;350;p18"/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1" name="Google Shape;351;p18"/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</a:t>
            </a:r>
            <a:endParaRPr/>
          </a:p>
        </p:txBody>
      </p:sp>
      <p:sp>
        <p:nvSpPr>
          <p:cNvPr id="352" name="Google Shape;352;p18"/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3" name="Google Shape;353;p18"/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sp>
        <p:nvSpPr>
          <p:cNvPr id="354" name="Google Shape;354;p18"/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GC.EP</a:t>
            </a:r>
            <a:endParaRPr/>
          </a:p>
        </p:txBody>
      </p:sp>
      <p:sp>
        <p:nvSpPr>
          <p:cNvPr id="355" name="Google Shape;355;p18"/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8"/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8"/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8"/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8"/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0" name="Google Shape;360;p18"/>
          <p:cNvCxnSpPr/>
          <p:nvPr/>
        </p:nvCxnSpPr>
        <p:spPr>
          <a:xfrm rot="10800000">
            <a:off x="5389190" y="2415452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61" name="Google Shape;361;p18"/>
          <p:cNvCxnSpPr/>
          <p:nvPr/>
        </p:nvCxnSpPr>
        <p:spPr>
          <a:xfrm rot="10800000">
            <a:off x="5622093" y="2415452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62" name="Google Shape;362;p18"/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CO.W1</a:t>
            </a:r>
            <a:endParaRPr/>
          </a:p>
        </p:txBody>
      </p:sp>
      <p:cxnSp>
        <p:nvCxnSpPr>
          <p:cNvPr id="363" name="Google Shape;363;p18"/>
          <p:cNvCxnSpPr/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64" name="Google Shape;364;p18"/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CO.S1</a:t>
            </a:r>
            <a:endParaRPr/>
          </a:p>
        </p:txBody>
      </p:sp>
      <p:sp>
        <p:nvSpPr>
          <p:cNvPr id="365" name="Google Shape;365;p18"/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CO.AN</a:t>
            </a:r>
            <a:endParaRPr/>
          </a:p>
        </p:txBody>
      </p:sp>
      <p:cxnSp>
        <p:nvCxnSpPr>
          <p:cNvPr id="366" name="Google Shape;366;p18"/>
          <p:cNvCxnSpPr/>
          <p:nvPr/>
        </p:nvCxnSpPr>
        <p:spPr>
          <a:xfrm rot="10800000">
            <a:off x="3905060" y="2415048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67" name="Google Shape;367;p18"/>
          <p:cNvCxnSpPr/>
          <p:nvPr/>
        </p:nvCxnSpPr>
        <p:spPr>
          <a:xfrm rot="10800000">
            <a:off x="4154533" y="1856648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68" name="Google Shape;368;p18"/>
          <p:cNvCxnSpPr/>
          <p:nvPr/>
        </p:nvCxnSpPr>
        <p:spPr>
          <a:xfrm rot="10800000">
            <a:off x="4326089" y="1866895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69" name="Google Shape;369;p18"/>
          <p:cNvCxnSpPr/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70" name="Google Shape;370;p18"/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CO.S1</a:t>
            </a:r>
            <a:endParaRPr/>
          </a:p>
        </p:txBody>
      </p:sp>
      <p:sp>
        <p:nvSpPr>
          <p:cNvPr id="371" name="Google Shape;371;p18"/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CO.AP</a:t>
            </a:r>
            <a:endParaRPr/>
          </a:p>
        </p:txBody>
      </p:sp>
      <p:sp>
        <p:nvSpPr>
          <p:cNvPr id="372" name="Google Shape;372;p18"/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CO.W1</a:t>
            </a:r>
            <a:endParaRPr/>
          </a:p>
        </p:txBody>
      </p:sp>
      <p:sp>
        <p:nvSpPr>
          <p:cNvPr id="373" name="Google Shape;373;p18"/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CO.GG</a:t>
            </a:r>
            <a:endParaRPr/>
          </a:p>
        </p:txBody>
      </p:sp>
      <p:sp>
        <p:nvSpPr>
          <p:cNvPr id="374" name="Google Shape;374;p18"/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8"/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8"/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8"/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8" name="Google Shape;378;p18"/>
          <p:cNvCxnSpPr/>
          <p:nvPr/>
        </p:nvCxnSpPr>
        <p:spPr>
          <a:xfrm rot="10800000">
            <a:off x="5389190" y="4922111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79" name="Google Shape;379;p18"/>
          <p:cNvCxnSpPr/>
          <p:nvPr/>
        </p:nvCxnSpPr>
        <p:spPr>
          <a:xfrm rot="10800000">
            <a:off x="5622093" y="4922111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80" name="Google Shape;380;p18"/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CO.W1</a:t>
            </a:r>
            <a:endParaRPr/>
          </a:p>
        </p:txBody>
      </p:sp>
      <p:cxnSp>
        <p:nvCxnSpPr>
          <p:cNvPr id="381" name="Google Shape;381;p18"/>
          <p:cNvCxnSpPr/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82" name="Google Shape;382;p18"/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CO.S1</a:t>
            </a:r>
            <a:endParaRPr/>
          </a:p>
        </p:txBody>
      </p:sp>
      <p:sp>
        <p:nvSpPr>
          <p:cNvPr id="383" name="Google Shape;383;p18"/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CO.AP</a:t>
            </a:r>
            <a:endParaRPr/>
          </a:p>
        </p:txBody>
      </p:sp>
      <p:cxnSp>
        <p:nvCxnSpPr>
          <p:cNvPr id="384" name="Google Shape;384;p18"/>
          <p:cNvCxnSpPr/>
          <p:nvPr/>
        </p:nvCxnSpPr>
        <p:spPr>
          <a:xfrm rot="10800000">
            <a:off x="3905060" y="4921707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85" name="Google Shape;385;p18"/>
          <p:cNvCxnSpPr/>
          <p:nvPr/>
        </p:nvCxnSpPr>
        <p:spPr>
          <a:xfrm rot="10800000">
            <a:off x="4154533" y="4363307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86" name="Google Shape;386;p18"/>
          <p:cNvCxnSpPr/>
          <p:nvPr/>
        </p:nvCxnSpPr>
        <p:spPr>
          <a:xfrm rot="10800000">
            <a:off x="4326089" y="4373554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87" name="Google Shape;387;p18"/>
          <p:cNvCxnSpPr/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88" name="Google Shape;388;p18"/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CO.S1</a:t>
            </a:r>
            <a:endParaRPr/>
          </a:p>
        </p:txBody>
      </p:sp>
      <p:sp>
        <p:nvSpPr>
          <p:cNvPr id="389" name="Google Shape;389;p18"/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CO.AN</a:t>
            </a:r>
            <a:endParaRPr/>
          </a:p>
        </p:txBody>
      </p:sp>
      <p:sp>
        <p:nvSpPr>
          <p:cNvPr id="390" name="Google Shape;390;p18"/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CO.W1</a:t>
            </a:r>
            <a:endParaRPr/>
          </a:p>
        </p:txBody>
      </p:sp>
      <p:sp>
        <p:nvSpPr>
          <p:cNvPr id="391" name="Google Shape;391;p18"/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CO.GG</a:t>
            </a:r>
            <a:endParaRPr/>
          </a:p>
        </p:txBody>
      </p:sp>
      <p:cxnSp>
        <p:nvCxnSpPr>
          <p:cNvPr id="392" name="Google Shape;392;p18"/>
          <p:cNvCxnSpPr/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93" name="Google Shape;393;p18"/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GC.EN</a:t>
            </a:r>
            <a:endParaRPr/>
          </a:p>
        </p:txBody>
      </p:sp>
      <p:cxnSp>
        <p:nvCxnSpPr>
          <p:cNvPr id="394" name="Google Shape;394;p18"/>
          <p:cNvCxnSpPr/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395" name="Google Shape;395;p18"/>
          <p:cNvCxnSpPr>
            <a:endCxn id="355" idx="0"/>
          </p:cNvCxnSpPr>
          <p:nvPr/>
        </p:nvCxnSpPr>
        <p:spPr>
          <a:xfrm>
            <a:off x="4961369" y="3143755"/>
            <a:ext cx="0" cy="191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396" name="Google Shape;396;p18"/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CO.W1</a:t>
            </a:r>
            <a:endParaRPr/>
          </a:p>
        </p:txBody>
      </p:sp>
      <p:sp>
        <p:nvSpPr>
          <p:cNvPr id="397" name="Google Shape;397;p18"/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CO.GC</a:t>
            </a:r>
            <a:endParaRPr/>
          </a:p>
        </p:txBody>
      </p:sp>
      <p:sp>
        <p:nvSpPr>
          <p:cNvPr id="398" name="Google Shape;398;p18"/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9" name="Google Shape;399;p18"/>
          <p:cNvCxnSpPr/>
          <p:nvPr/>
        </p:nvCxnSpPr>
        <p:spPr>
          <a:xfrm rot="10800000">
            <a:off x="4624324" y="3429959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00" name="Google Shape;400;p18"/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CO.S1</a:t>
            </a:r>
            <a:endParaRPr/>
          </a:p>
        </p:txBody>
      </p:sp>
      <p:sp>
        <p:nvSpPr>
          <p:cNvPr id="401" name="Google Shape;401;p18"/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402" name="Google Shape;402;p18"/>
          <p:cNvCxnSpPr/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03" name="Google Shape;403;p18"/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GC.AP</a:t>
            </a:r>
            <a:endParaRPr/>
          </a:p>
        </p:txBody>
      </p:sp>
      <p:cxnSp>
        <p:nvCxnSpPr>
          <p:cNvPr id="404" name="Google Shape;404;p18"/>
          <p:cNvCxnSpPr/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05" name="Google Shape;405;p18"/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GC.AN</a:t>
            </a:r>
            <a:endParaRPr/>
          </a:p>
        </p:txBody>
      </p:sp>
      <p:cxnSp>
        <p:nvCxnSpPr>
          <p:cNvPr id="406" name="Google Shape;406;p18"/>
          <p:cNvCxnSpPr/>
          <p:nvPr/>
        </p:nvCxnSpPr>
        <p:spPr>
          <a:xfrm rot="10800000">
            <a:off x="3232950" y="1982526"/>
            <a:ext cx="180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07" name="Google Shape;407;p18"/>
          <p:cNvCxnSpPr/>
          <p:nvPr/>
        </p:nvCxnSpPr>
        <p:spPr>
          <a:xfrm rot="10800000">
            <a:off x="3412950" y="1982526"/>
            <a:ext cx="302909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08" name="Google Shape;408;p18"/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GC.S1</a:t>
            </a:r>
            <a:endParaRPr/>
          </a:p>
        </p:txBody>
      </p:sp>
      <p:sp>
        <p:nvSpPr>
          <p:cNvPr id="409" name="Google Shape;409;p18"/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GC.W1</a:t>
            </a:r>
            <a:endParaRPr/>
          </a:p>
        </p:txBody>
      </p:sp>
      <p:sp>
        <p:nvSpPr>
          <p:cNvPr id="410" name="Google Shape;410;p18"/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11" name="Google Shape;411;p18"/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12" name="Google Shape;412;p18"/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(D)</a:t>
            </a:r>
            <a:endParaRPr/>
          </a:p>
        </p:txBody>
      </p:sp>
      <p:sp>
        <p:nvSpPr>
          <p:cNvPr id="413" name="Google Shape;413;p18"/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14" name="Google Shape;414;p18"/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15" name="Google Shape;415;p18"/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(D)</a:t>
            </a:r>
            <a:endParaRPr/>
          </a:p>
        </p:txBody>
      </p:sp>
      <p:sp>
        <p:nvSpPr>
          <p:cNvPr id="416" name="Google Shape;416;p18"/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17" name="Google Shape;417;p18"/>
          <p:cNvCxnSpPr/>
          <p:nvPr/>
        </p:nvCxnSpPr>
        <p:spPr>
          <a:xfrm rot="10800000">
            <a:off x="1479234" y="4322841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18" name="Google Shape;418;p18"/>
          <p:cNvCxnSpPr/>
          <p:nvPr/>
        </p:nvCxnSpPr>
        <p:spPr>
          <a:xfrm rot="10800000">
            <a:off x="1716554" y="4322841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19" name="Google Shape;419;p18"/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CO.WD</a:t>
            </a:r>
            <a:endParaRPr/>
          </a:p>
        </p:txBody>
      </p:sp>
      <p:sp>
        <p:nvSpPr>
          <p:cNvPr id="420" name="Google Shape;420;p18"/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CO.AD</a:t>
            </a:r>
            <a:endParaRPr/>
          </a:p>
        </p:txBody>
      </p:sp>
      <p:sp>
        <p:nvSpPr>
          <p:cNvPr id="421" name="Google Shape;421;p18"/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22" name="Google Shape;422;p18"/>
          <p:cNvCxnSpPr/>
          <p:nvPr/>
        </p:nvCxnSpPr>
        <p:spPr>
          <a:xfrm rot="10800000">
            <a:off x="1478810" y="1486706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23" name="Google Shape;423;p18"/>
          <p:cNvCxnSpPr/>
          <p:nvPr/>
        </p:nvCxnSpPr>
        <p:spPr>
          <a:xfrm rot="10800000">
            <a:off x="1716554" y="1486706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24" name="Google Shape;424;p18"/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CO.WD</a:t>
            </a:r>
            <a:endParaRPr/>
          </a:p>
        </p:txBody>
      </p:sp>
      <p:sp>
        <p:nvSpPr>
          <p:cNvPr id="425" name="Google Shape;425;p18"/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CO.AD</a:t>
            </a:r>
            <a:endParaRPr/>
          </a:p>
        </p:txBody>
      </p:sp>
      <p:sp>
        <p:nvSpPr>
          <p:cNvPr id="426" name="Google Shape;426;p18"/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</p:txBody>
      </p:sp>
      <p:sp>
        <p:nvSpPr>
          <p:cNvPr id="427" name="Google Shape;427;p18"/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Cat-4: Contact and Poly related</a:t>
            </a:r>
            <a:endParaRPr/>
          </a:p>
        </p:txBody>
      </p:sp>
      <p:sp>
        <p:nvSpPr>
          <p:cNvPr id="428" name="Google Shape;428;p18"/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CO(D)</a:t>
            </a:r>
            <a:endParaRPr/>
          </a:p>
        </p:txBody>
      </p:sp>
      <p:sp>
        <p:nvSpPr>
          <p:cNvPr id="429" name="Google Shape;429;p18"/>
          <p:cNvSpPr txBox="1"/>
          <p:nvPr/>
        </p:nvSpPr>
        <p:spPr>
          <a:xfrm rot="-5400000">
            <a:off x="3381496" y="2478817"/>
            <a:ext cx="882149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1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GC(G)</a:t>
            </a:r>
            <a:endParaRPr/>
          </a:p>
        </p:txBody>
      </p:sp>
      <p:sp>
        <p:nvSpPr>
          <p:cNvPr id="430" name="Google Shape;430;p18"/>
          <p:cNvSpPr txBox="1"/>
          <p:nvPr/>
        </p:nvSpPr>
        <p:spPr>
          <a:xfrm>
            <a:off x="7563550" y="4871575"/>
            <a:ext cx="4628400" cy="138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AP(D)：AP not interacted GC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AN(D)：AN not interacted GC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CO(D)：CO on AP(D)/AN(D)</a:t>
            </a:r>
            <a:endParaRPr sz="1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CO(S)：CO not on AD, WC, AR, MPE, or MNE</a:t>
            </a:r>
            <a:endParaRPr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GC(G)：GC for PMOS/NMOS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31" name="Google Shape;431;p18"/>
          <p:cNvSpPr txBox="1"/>
          <p:nvPr/>
        </p:nvSpPr>
        <p:spPr>
          <a:xfrm rot="-5400000">
            <a:off x="3390585" y="4882691"/>
            <a:ext cx="882149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1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GC(G)</a:t>
            </a:r>
            <a:endParaRPr/>
          </a:p>
        </p:txBody>
      </p:sp>
      <p:graphicFrame>
        <p:nvGraphicFramePr>
          <p:cNvPr id="432" name="Google Shape;432;p18"/>
          <p:cNvGraphicFramePr/>
          <p:nvPr/>
        </p:nvGraphicFramePr>
        <p:xfrm>
          <a:off x="7457131" y="24770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{A4022A17-9CB6-4FA6-88F5-1CA9CFE692F7}</a:tableStyleId>
              </a:tblPr>
              <a:tblGrid>
                <a:gridCol w="659375"/>
                <a:gridCol w="659375"/>
                <a:gridCol w="1023150"/>
                <a:gridCol w="780625"/>
                <a:gridCol w="598725"/>
                <a:gridCol w="598725"/>
              </a:tblGrid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Rule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L1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L2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Func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MIN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MAX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GC.EP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PMOS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ECmin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GC.EN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NMOS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ECmin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CO.W1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CO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Wmin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1.0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</a:t>
                      </a:r>
                      <a:r>
                        <a:rPr lang="en-JP" sz="1100"/>
                        <a:t>S</a:t>
                      </a:r>
                      <a:r>
                        <a:rPr lang="en-JP" sz="1100" u="none" cap="none" strike="noStrike"/>
                        <a:t>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Wfix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CO.WD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CO(D)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Wfix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CO.SC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CO(C)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CO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Smin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1.2</a:t>
                      </a:r>
                      <a:endParaRPr sz="1100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CO.SD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CO(D)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CO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Smin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JP" sz="1100"/>
                        <a:t>1.2</a:t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CO.AD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CO(D)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AP+AN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CO.GG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GC(G)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45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CO.GC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GC+GR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9"/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8" name="Google Shape;438;p19"/>
          <p:cNvSpPr/>
          <p:nvPr/>
        </p:nvSpPr>
        <p:spPr>
          <a:xfrm rot="-5400000">
            <a:off x="1880418" y="4349640"/>
            <a:ext cx="1440000" cy="144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9" name="Google Shape;439;p19"/>
          <p:cNvSpPr/>
          <p:nvPr/>
        </p:nvSpPr>
        <p:spPr>
          <a:xfrm rot="-54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0" name="Google Shape;440;p19"/>
          <p:cNvSpPr/>
          <p:nvPr/>
        </p:nvSpPr>
        <p:spPr>
          <a:xfrm rot="-5400000">
            <a:off x="1301931" y="1269469"/>
            <a:ext cx="1440000" cy="144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2" name="Google Shape;442;p19"/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WN(R)</a:t>
            </a:r>
            <a:endParaRPr/>
          </a:p>
        </p:txBody>
      </p:sp>
      <p:sp>
        <p:nvSpPr>
          <p:cNvPr id="443" name="Google Shape;443;p19"/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AR</a:t>
            </a:r>
            <a:endParaRPr/>
          </a:p>
        </p:txBody>
      </p:sp>
      <p:sp>
        <p:nvSpPr>
          <p:cNvPr id="444" name="Google Shape;444;p19"/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9"/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rgbClr val="E59DD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6" name="Google Shape;446;p19"/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(C)</a:t>
            </a:r>
            <a:endParaRPr/>
          </a:p>
        </p:txBody>
      </p:sp>
      <p:sp>
        <p:nvSpPr>
          <p:cNvPr id="447" name="Google Shape;447;p19"/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AC</a:t>
            </a:r>
            <a:endParaRPr/>
          </a:p>
        </p:txBody>
      </p:sp>
      <p:sp>
        <p:nvSpPr>
          <p:cNvPr id="448" name="Google Shape;448;p19"/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9" name="Google Shape;449;p19"/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cxnSp>
        <p:nvCxnSpPr>
          <p:cNvPr id="450" name="Google Shape;450;p19"/>
          <p:cNvCxnSpPr/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51" name="Google Shape;451;p19"/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GC.AN</a:t>
            </a:r>
            <a:endParaRPr/>
          </a:p>
        </p:txBody>
      </p:sp>
      <p:cxnSp>
        <p:nvCxnSpPr>
          <p:cNvPr id="452" name="Google Shape;452;p19"/>
          <p:cNvCxnSpPr/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53" name="Google Shape;453;p19"/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AR.GC</a:t>
            </a:r>
            <a:endParaRPr/>
          </a:p>
        </p:txBody>
      </p:sp>
      <p:cxnSp>
        <p:nvCxnSpPr>
          <p:cNvPr id="454" name="Google Shape;454;p19"/>
          <p:cNvCxnSpPr>
            <a:stCxn id="440" idx="3"/>
            <a:endCxn id="439" idx="3"/>
          </p:cNvCxnSpPr>
          <p:nvPr/>
        </p:nvCxnSpPr>
        <p:spPr>
          <a:xfrm rot="10800000">
            <a:off x="2021931" y="999469"/>
            <a:ext cx="0" cy="270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55" name="Google Shape;455;p19"/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AR.PW</a:t>
            </a:r>
            <a:endParaRPr/>
          </a:p>
        </p:txBody>
      </p:sp>
      <p:sp>
        <p:nvSpPr>
          <p:cNvPr id="456" name="Google Shape;456;p19"/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9"/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sp>
        <p:nvSpPr>
          <p:cNvPr id="458" name="Google Shape;458;p19"/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9" name="Google Shape;459;p19"/>
          <p:cNvCxnSpPr/>
          <p:nvPr/>
        </p:nvCxnSpPr>
        <p:spPr>
          <a:xfrm rot="10800000">
            <a:off x="3652638" y="4778076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60" name="Google Shape;460;p19"/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CC.AN</a:t>
            </a:r>
            <a:endParaRPr/>
          </a:p>
        </p:txBody>
      </p:sp>
      <p:cxnSp>
        <p:nvCxnSpPr>
          <p:cNvPr id="461" name="Google Shape;461;p19"/>
          <p:cNvCxnSpPr/>
          <p:nvPr/>
        </p:nvCxnSpPr>
        <p:spPr>
          <a:xfrm rot="10800000">
            <a:off x="3478930" y="5330517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62" name="Google Shape;462;p19"/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CC.W1</a:t>
            </a:r>
            <a:endParaRPr/>
          </a:p>
        </p:txBody>
      </p:sp>
      <p:cxnSp>
        <p:nvCxnSpPr>
          <p:cNvPr id="463" name="Google Shape;463;p19"/>
          <p:cNvCxnSpPr/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64" name="Google Shape;464;p19"/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CC.S1</a:t>
            </a:r>
            <a:endParaRPr/>
          </a:p>
        </p:txBody>
      </p:sp>
      <p:sp>
        <p:nvSpPr>
          <p:cNvPr id="465" name="Google Shape;465;p19"/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19"/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7" name="Google Shape;467;p19"/>
          <p:cNvCxnSpPr/>
          <p:nvPr/>
        </p:nvCxnSpPr>
        <p:spPr>
          <a:xfrm rot="10800000">
            <a:off x="2959790" y="4732681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68" name="Google Shape;468;p19"/>
          <p:cNvCxnSpPr/>
          <p:nvPr/>
        </p:nvCxnSpPr>
        <p:spPr>
          <a:xfrm rot="10800000">
            <a:off x="2786818" y="5287674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69" name="Google Shape;469;p19"/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CC.W1</a:t>
            </a:r>
            <a:endParaRPr/>
          </a:p>
        </p:txBody>
      </p:sp>
      <p:cxnSp>
        <p:nvCxnSpPr>
          <p:cNvPr id="470" name="Google Shape;470;p19"/>
          <p:cNvCxnSpPr/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71" name="Google Shape;471;p19"/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CC.S1</a:t>
            </a:r>
            <a:endParaRPr/>
          </a:p>
        </p:txBody>
      </p:sp>
      <p:sp>
        <p:nvSpPr>
          <p:cNvPr id="472" name="Google Shape;472;p19"/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CC.AC</a:t>
            </a:r>
            <a:endParaRPr/>
          </a:p>
        </p:txBody>
      </p:sp>
      <p:sp>
        <p:nvSpPr>
          <p:cNvPr id="473" name="Google Shape;473;p19"/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19"/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GC(AR)</a:t>
            </a:r>
            <a:endParaRPr/>
          </a:p>
        </p:txBody>
      </p:sp>
      <p:sp>
        <p:nvSpPr>
          <p:cNvPr id="475" name="Google Shape;475;p19"/>
          <p:cNvSpPr/>
          <p:nvPr/>
        </p:nvSpPr>
        <p:spPr>
          <a:xfrm rot="-54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6" name="Google Shape;476;p19"/>
          <p:cNvSpPr/>
          <p:nvPr/>
        </p:nvSpPr>
        <p:spPr>
          <a:xfrm rot="-54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7" name="Google Shape;477;p19"/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(R)</a:t>
            </a:r>
            <a:endParaRPr/>
          </a:p>
        </p:txBody>
      </p:sp>
      <p:cxnSp>
        <p:nvCxnSpPr>
          <p:cNvPr id="478" name="Google Shape;478;p19"/>
          <p:cNvCxnSpPr/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79" name="Google Shape;479;p19"/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GR.W1</a:t>
            </a:r>
            <a:endParaRPr/>
          </a:p>
        </p:txBody>
      </p:sp>
      <p:cxnSp>
        <p:nvCxnSpPr>
          <p:cNvPr id="480" name="Google Shape;480;p19"/>
          <p:cNvCxnSpPr/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81" name="Google Shape;481;p19"/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GR.S1</a:t>
            </a:r>
            <a:endParaRPr/>
          </a:p>
        </p:txBody>
      </p:sp>
      <p:sp>
        <p:nvSpPr>
          <p:cNvPr id="482" name="Google Shape;482;p19"/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(R)</a:t>
            </a:r>
            <a:endParaRPr/>
          </a:p>
        </p:txBody>
      </p:sp>
      <p:sp>
        <p:nvSpPr>
          <p:cNvPr id="483" name="Google Shape;483;p19"/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Cat-5: Resistor(AR/RS) and Capacitor(AC) related</a:t>
            </a:r>
            <a:endParaRPr/>
          </a:p>
        </p:txBody>
      </p:sp>
      <p:sp>
        <p:nvSpPr>
          <p:cNvPr id="484" name="Google Shape;484;p19"/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fmla="val 23682" name="adj1"/>
              <a:gd fmla="val 0" name="adj2"/>
            </a:avLst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9"/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9"/>
          <p:cNvCxnSpPr/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87" name="Google Shape;487;p19"/>
          <p:cNvCxnSpPr/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88" name="Google Shape;488;p19"/>
          <p:cNvCxnSpPr/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89" name="Google Shape;489;p19"/>
          <p:cNvCxnSpPr/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90" name="Google Shape;490;p19"/>
          <p:cNvCxnSpPr/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491" name="Google Shape;491;p19"/>
          <p:cNvCxnSpPr/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492" name="Google Shape;492;p19"/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</a:t>
            </a:r>
            <a:endParaRPr/>
          </a:p>
        </p:txBody>
      </p:sp>
      <p:sp>
        <p:nvSpPr>
          <p:cNvPr id="493" name="Google Shape;493;p19"/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AR.XY</a:t>
            </a:r>
            <a:endParaRPr/>
          </a:p>
        </p:txBody>
      </p:sp>
      <p:sp>
        <p:nvSpPr>
          <p:cNvPr id="494" name="Google Shape;494;p19"/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CR.AT</a:t>
            </a:r>
            <a:endParaRPr/>
          </a:p>
        </p:txBody>
      </p:sp>
      <p:sp>
        <p:nvSpPr>
          <p:cNvPr id="495" name="Google Shape;495;p19"/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CR.W1</a:t>
            </a:r>
            <a:endParaRPr/>
          </a:p>
        </p:txBody>
      </p:sp>
      <p:sp>
        <p:nvSpPr>
          <p:cNvPr id="496" name="Google Shape;496;p19"/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CR.AS</a:t>
            </a:r>
            <a:endParaRPr/>
          </a:p>
        </p:txBody>
      </p:sp>
      <p:sp>
        <p:nvSpPr>
          <p:cNvPr id="497" name="Google Shape;497;p19"/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AR.XY</a:t>
            </a:r>
            <a:endParaRPr/>
          </a:p>
        </p:txBody>
      </p:sp>
      <p:sp>
        <p:nvSpPr>
          <p:cNvPr id="498" name="Google Shape;498;p19"/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CR.W2</a:t>
            </a:r>
            <a:endParaRPr/>
          </a:p>
        </p:txBody>
      </p:sp>
      <p:sp>
        <p:nvSpPr>
          <p:cNvPr id="499" name="Google Shape;499;p19"/>
          <p:cNvSpPr/>
          <p:nvPr/>
        </p:nvSpPr>
        <p:spPr>
          <a:xfrm>
            <a:off x="5316223" y="749707"/>
            <a:ext cx="20320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00" name="Google Shape;500;p19"/>
          <p:cNvSpPr/>
          <p:nvPr/>
        </p:nvSpPr>
        <p:spPr>
          <a:xfrm>
            <a:off x="6672540" y="743823"/>
            <a:ext cx="20320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01" name="Google Shape;501;p19"/>
          <p:cNvSpPr/>
          <p:nvPr/>
        </p:nvSpPr>
        <p:spPr>
          <a:xfrm>
            <a:off x="5316223" y="2997036"/>
            <a:ext cx="20320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02" name="Google Shape;502;p19"/>
          <p:cNvSpPr/>
          <p:nvPr/>
        </p:nvSpPr>
        <p:spPr>
          <a:xfrm>
            <a:off x="6685308" y="2991152"/>
            <a:ext cx="20320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id="503" name="Google Shape;503;p19"/>
          <p:cNvCxnSpPr>
            <a:endCxn id="501" idx="0"/>
          </p:cNvCxnSpPr>
          <p:nvPr/>
        </p:nvCxnSpPr>
        <p:spPr>
          <a:xfrm>
            <a:off x="5411523" y="965736"/>
            <a:ext cx="6300" cy="20313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04" name="Google Shape;504;p19"/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GR.L1</a:t>
            </a:r>
            <a:endParaRPr/>
          </a:p>
        </p:txBody>
      </p:sp>
      <p:sp>
        <p:nvSpPr>
          <p:cNvPr id="505" name="Google Shape;505;p19"/>
          <p:cNvSpPr/>
          <p:nvPr/>
        </p:nvSpPr>
        <p:spPr>
          <a:xfrm>
            <a:off x="1939812" y="1513038"/>
            <a:ext cx="20320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06" name="Google Shape;506;p19"/>
          <p:cNvSpPr/>
          <p:nvPr/>
        </p:nvSpPr>
        <p:spPr>
          <a:xfrm>
            <a:off x="1922748" y="2259086"/>
            <a:ext cx="20320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id="507" name="Google Shape;507;p19"/>
          <p:cNvCxnSpPr/>
          <p:nvPr/>
        </p:nvCxnSpPr>
        <p:spPr>
          <a:xfrm rot="10800000">
            <a:off x="2041412" y="1719460"/>
            <a:ext cx="0" cy="539626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08" name="Google Shape;508;p19"/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AR.L1</a:t>
            </a:r>
            <a:endParaRPr/>
          </a:p>
        </p:txBody>
      </p:sp>
      <p:cxnSp>
        <p:nvCxnSpPr>
          <p:cNvPr id="509" name="Google Shape;509;p19"/>
          <p:cNvCxnSpPr/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10" name="Google Shape;510;p19"/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AR.W1</a:t>
            </a:r>
            <a:endParaRPr/>
          </a:p>
        </p:txBody>
      </p:sp>
      <p:sp>
        <p:nvSpPr>
          <p:cNvPr id="511" name="Google Shape;511;p19"/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19"/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19"/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19"/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9"/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CO(RR)</a:t>
            </a:r>
            <a:endParaRPr/>
          </a:p>
        </p:txBody>
      </p:sp>
      <p:sp>
        <p:nvSpPr>
          <p:cNvPr id="516" name="Google Shape;516;p19"/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CL(RR)</a:t>
            </a:r>
            <a:endParaRPr/>
          </a:p>
        </p:txBody>
      </p:sp>
      <p:sp>
        <p:nvSpPr>
          <p:cNvPr id="517" name="Google Shape;517;p19"/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ctr" bIns="72000" lIns="0" spcFirstLastPara="1" rIns="0" wrap="square" tIns="720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RS</a:t>
            </a:r>
            <a:endParaRPr/>
          </a:p>
        </p:txBody>
      </p:sp>
      <p:sp>
        <p:nvSpPr>
          <p:cNvPr id="518" name="Google Shape;518;p19"/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ctr" bIns="72000" lIns="0" spcFirstLastPara="1" rIns="0" wrap="square" tIns="720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RR</a:t>
            </a:r>
            <a:endParaRPr/>
          </a:p>
        </p:txBody>
      </p:sp>
      <p:sp>
        <p:nvSpPr>
          <p:cNvPr id="519" name="Google Shape;519;p19"/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dashDot"/>
            <a:round/>
            <a:headEnd len="sm" w="sm" type="none"/>
            <a:tailEnd len="sm" w="sm" type="none"/>
          </a:ln>
        </p:spPr>
        <p:txBody>
          <a:bodyPr anchorCtr="0" anchor="ctr" bIns="72000" lIns="0" spcFirstLastPara="1" rIns="0" wrap="square" tIns="720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R.Effective region</a:t>
            </a:r>
            <a:endParaRPr/>
          </a:p>
        </p:txBody>
      </p:sp>
      <p:sp>
        <p:nvSpPr>
          <p:cNvPr id="520" name="Google Shape;520;p19"/>
          <p:cNvSpPr txBox="1"/>
          <p:nvPr/>
        </p:nvSpPr>
        <p:spPr>
          <a:xfrm>
            <a:off x="7667594" y="4867012"/>
            <a:ext cx="4116600" cy="193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GC(AR)：GC in WN(R)</a:t>
            </a:r>
            <a:endParaRPr sz="1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RS(L) ：Length of AR effective</a:t>
            </a:r>
            <a:endParaRPr sz="12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RS(W) ：Width of AR effective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CO(RR)：CO short side on AR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CL(RR)：CO long  side on AR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AR(T) ：AR top fringe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AR(S) ：AR side fringe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AR.W1 ：allow only 2.8,4,6,12,20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GR.W1 ：allow only 4,6,12,20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CO(C) ：CO on WN(C)</a:t>
            </a:r>
            <a:endParaRPr/>
          </a:p>
        </p:txBody>
      </p:sp>
      <p:graphicFrame>
        <p:nvGraphicFramePr>
          <p:cNvPr id="521" name="Google Shape;521;p19"/>
          <p:cNvGraphicFramePr/>
          <p:nvPr/>
        </p:nvGraphicFramePr>
        <p:xfrm>
          <a:off x="7577820" y="4871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{A4022A17-9CB6-4FA6-88F5-1CA9CFE692F7}</a:tableStyleId>
              </a:tblPr>
              <a:tblGrid>
                <a:gridCol w="659375"/>
                <a:gridCol w="659375"/>
                <a:gridCol w="1023150"/>
                <a:gridCol w="780625"/>
                <a:gridCol w="598725"/>
                <a:gridCol w="598725"/>
              </a:tblGrid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Rule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L1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L2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Func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MIN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MAX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RR(L)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AR.L1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RR(W)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13.0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AR.GC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AR.PW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AR.XY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Bevel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XYmin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???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???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GC.R1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Donut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GC.R2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WN(R)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TieDown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GR.W1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RS(L)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4.0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GR.L1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RS(W)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GR.S1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CR.W1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CO(RR)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CR.W2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CL(RR)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97.5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CR.AT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CO(RR)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AR(T)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1.5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CR.AS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CO(RR)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AR(S)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CC.W1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Wfix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CC.S1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Sfix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CC.AC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2.9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  <a:tr h="217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CC.AN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8150" marB="0" marR="8150" marL="815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20"/>
          <p:cNvSpPr/>
          <p:nvPr/>
        </p:nvSpPr>
        <p:spPr>
          <a:xfrm rot="-5400000">
            <a:off x="6003403" y="4954897"/>
            <a:ext cx="1954443" cy="497655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7" name="Google Shape;527;p20"/>
          <p:cNvSpPr/>
          <p:nvPr/>
        </p:nvSpPr>
        <p:spPr>
          <a:xfrm flipH="1" rot="-5400000">
            <a:off x="3238778" y="2719455"/>
            <a:ext cx="1327921" cy="779734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8" name="Google Shape;528;p20"/>
          <p:cNvSpPr/>
          <p:nvPr/>
        </p:nvSpPr>
        <p:spPr>
          <a:xfrm rot="-5400000">
            <a:off x="2446513" y="2064162"/>
            <a:ext cx="2920585" cy="497655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9" name="Google Shape;529;p20"/>
          <p:cNvSpPr/>
          <p:nvPr/>
        </p:nvSpPr>
        <p:spPr>
          <a:xfrm rot="-5400000">
            <a:off x="2776744" y="3134826"/>
            <a:ext cx="5343989" cy="779736"/>
          </a:xfrm>
          <a:prstGeom prst="rect">
            <a:avLst/>
          </a:prstGeom>
          <a:solidFill>
            <a:srgbClr val="FAE2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30" name="Google Shape;530;p20"/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1" name="Google Shape;531;p20"/>
          <p:cNvCxnSpPr/>
          <p:nvPr/>
        </p:nvCxnSpPr>
        <p:spPr>
          <a:xfrm rot="10800000">
            <a:off x="3819640" y="2858138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32" name="Google Shape;532;p20"/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V1.W1</a:t>
            </a:r>
            <a:endParaRPr/>
          </a:p>
        </p:txBody>
      </p:sp>
      <p:sp>
        <p:nvSpPr>
          <p:cNvPr id="533" name="Google Shape;533;p20"/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4" name="Google Shape;534;p20"/>
          <p:cNvCxnSpPr/>
          <p:nvPr/>
        </p:nvCxnSpPr>
        <p:spPr>
          <a:xfrm rot="10800000">
            <a:off x="3900894" y="3501686"/>
            <a:ext cx="1" cy="271597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535" name="Google Shape;535;p20"/>
          <p:cNvCxnSpPr/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36" name="Google Shape;536;p20"/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V1.S1</a:t>
            </a:r>
            <a:endParaRPr/>
          </a:p>
        </p:txBody>
      </p:sp>
      <p:sp>
        <p:nvSpPr>
          <p:cNvPr id="537" name="Google Shape;537;p20"/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V1.M1</a:t>
            </a:r>
            <a:endParaRPr/>
          </a:p>
        </p:txBody>
      </p:sp>
      <p:sp>
        <p:nvSpPr>
          <p:cNvPr id="538" name="Google Shape;538;p20"/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</a:t>
            </a:r>
            <a:endParaRPr/>
          </a:p>
        </p:txBody>
      </p:sp>
      <p:sp>
        <p:nvSpPr>
          <p:cNvPr id="539" name="Google Shape;539;p20"/>
          <p:cNvSpPr/>
          <p:nvPr/>
        </p:nvSpPr>
        <p:spPr>
          <a:xfrm rot="-5400000">
            <a:off x="1205029" y="2064161"/>
            <a:ext cx="2920585" cy="497655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540" name="Google Shape;540;p20"/>
          <p:cNvCxnSpPr/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41" name="Google Shape;541;p20"/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M1.W1</a:t>
            </a:r>
            <a:endParaRPr/>
          </a:p>
        </p:txBody>
      </p:sp>
      <p:cxnSp>
        <p:nvCxnSpPr>
          <p:cNvPr id="542" name="Google Shape;542;p20"/>
          <p:cNvCxnSpPr/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43" name="Google Shape;543;p20"/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M1.S1</a:t>
            </a:r>
            <a:endParaRPr/>
          </a:p>
        </p:txBody>
      </p:sp>
      <p:sp>
        <p:nvSpPr>
          <p:cNvPr id="544" name="Google Shape;544;p20"/>
          <p:cNvSpPr/>
          <p:nvPr/>
        </p:nvSpPr>
        <p:spPr>
          <a:xfrm rot="-5400000">
            <a:off x="5508885" y="1923120"/>
            <a:ext cx="2920586" cy="779738"/>
          </a:xfrm>
          <a:prstGeom prst="rect">
            <a:avLst/>
          </a:prstGeom>
          <a:solidFill>
            <a:srgbClr val="FAE2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45" name="Google Shape;545;p20"/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20"/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20"/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</a:t>
            </a:r>
            <a:endParaRPr/>
          </a:p>
        </p:txBody>
      </p:sp>
      <p:sp>
        <p:nvSpPr>
          <p:cNvPr id="548" name="Google Shape;548;p20"/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M2</a:t>
            </a:r>
            <a:endParaRPr/>
          </a:p>
        </p:txBody>
      </p:sp>
      <p:sp>
        <p:nvSpPr>
          <p:cNvPr id="549" name="Google Shape;549;p20"/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M2</a:t>
            </a:r>
            <a:endParaRPr/>
          </a:p>
        </p:txBody>
      </p:sp>
      <p:cxnSp>
        <p:nvCxnSpPr>
          <p:cNvPr id="550" name="Google Shape;550;p20"/>
          <p:cNvCxnSpPr/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51" name="Google Shape;551;p20"/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M2.W1</a:t>
            </a:r>
            <a:endParaRPr/>
          </a:p>
        </p:txBody>
      </p:sp>
      <p:cxnSp>
        <p:nvCxnSpPr>
          <p:cNvPr id="552" name="Google Shape;552;p20"/>
          <p:cNvCxnSpPr/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53" name="Google Shape;553;p20"/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M2.S1</a:t>
            </a:r>
            <a:endParaRPr/>
          </a:p>
        </p:txBody>
      </p:sp>
      <p:cxnSp>
        <p:nvCxnSpPr>
          <p:cNvPr id="554" name="Google Shape;554;p20"/>
          <p:cNvCxnSpPr/>
          <p:nvPr/>
        </p:nvCxnSpPr>
        <p:spPr>
          <a:xfrm rot="10800000">
            <a:off x="5557701" y="1609823"/>
            <a:ext cx="287552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55" name="Google Shape;555;p20"/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M2.V1</a:t>
            </a:r>
            <a:endParaRPr/>
          </a:p>
        </p:txBody>
      </p:sp>
      <p:sp>
        <p:nvSpPr>
          <p:cNvPr id="556" name="Google Shape;556;p20"/>
          <p:cNvSpPr/>
          <p:nvPr/>
        </p:nvSpPr>
        <p:spPr>
          <a:xfrm rot="-54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57" name="Google Shape;557;p20"/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</a:t>
            </a:r>
            <a:endParaRPr/>
          </a:p>
        </p:txBody>
      </p:sp>
      <p:cxnSp>
        <p:nvCxnSpPr>
          <p:cNvPr id="558" name="Google Shape;558;p20"/>
          <p:cNvCxnSpPr>
            <a:stCxn id="559" idx="3"/>
            <a:endCxn id="560" idx="1"/>
          </p:cNvCxnSpPr>
          <p:nvPr/>
        </p:nvCxnSpPr>
        <p:spPr>
          <a:xfrm>
            <a:off x="5541862" y="4638371"/>
            <a:ext cx="1337400" cy="63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61" name="Google Shape;561;p20"/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V1.CO</a:t>
            </a:r>
            <a:endParaRPr/>
          </a:p>
        </p:txBody>
      </p:sp>
      <p:sp>
        <p:nvSpPr>
          <p:cNvPr id="559" name="Google Shape;559;p20"/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20"/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20"/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4" name="Google Shape;564;p20"/>
          <p:cNvCxnSpPr>
            <a:endCxn id="562" idx="1"/>
          </p:cNvCxnSpPr>
          <p:nvPr/>
        </p:nvCxnSpPr>
        <p:spPr>
          <a:xfrm>
            <a:off x="4226662" y="5195180"/>
            <a:ext cx="11352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65" name="Google Shape;565;p20"/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V1.GC</a:t>
            </a:r>
            <a:endParaRPr/>
          </a:p>
        </p:txBody>
      </p:sp>
      <p:sp>
        <p:nvSpPr>
          <p:cNvPr id="566" name="Google Shape;566;p20"/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</a:t>
            </a:r>
            <a:endParaRPr/>
          </a:p>
        </p:txBody>
      </p:sp>
      <p:sp>
        <p:nvSpPr>
          <p:cNvPr id="560" name="Google Shape;560;p20"/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7" name="Google Shape;567;p20"/>
          <p:cNvCxnSpPr>
            <a:stCxn id="563" idx="3"/>
            <a:endCxn id="568" idx="1"/>
          </p:cNvCxnSpPr>
          <p:nvPr/>
        </p:nvCxnSpPr>
        <p:spPr>
          <a:xfrm flipH="1" rot="10800000">
            <a:off x="5546839" y="5756141"/>
            <a:ext cx="1332300" cy="2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69" name="Google Shape;569;p20"/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V1.CL</a:t>
            </a:r>
            <a:endParaRPr/>
          </a:p>
        </p:txBody>
      </p:sp>
      <p:sp>
        <p:nvSpPr>
          <p:cNvPr id="568" name="Google Shape;568;p20"/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20"/>
          <p:cNvSpPr/>
          <p:nvPr/>
        </p:nvSpPr>
        <p:spPr>
          <a:xfrm rot="-5400000">
            <a:off x="-412008" y="1724519"/>
            <a:ext cx="2920585" cy="1176939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571" name="Google Shape;571;p20"/>
          <p:cNvCxnSpPr/>
          <p:nvPr/>
        </p:nvCxnSpPr>
        <p:spPr>
          <a:xfrm rot="10800000">
            <a:off x="441962" y="3246874"/>
            <a:ext cx="1176939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72" name="Google Shape;572;p20"/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M1.W2</a:t>
            </a:r>
            <a:endParaRPr/>
          </a:p>
        </p:txBody>
      </p:sp>
      <p:sp>
        <p:nvSpPr>
          <p:cNvPr id="573" name="Google Shape;573;p20"/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M1(W)</a:t>
            </a:r>
            <a:endParaRPr/>
          </a:p>
        </p:txBody>
      </p:sp>
      <p:cxnSp>
        <p:nvCxnSpPr>
          <p:cNvPr id="574" name="Google Shape;574;p20"/>
          <p:cNvCxnSpPr/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75" name="Google Shape;575;p20"/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M1.SW</a:t>
            </a:r>
            <a:endParaRPr/>
          </a:p>
        </p:txBody>
      </p:sp>
      <p:sp>
        <p:nvSpPr>
          <p:cNvPr id="576" name="Google Shape;576;p20"/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Cat-6: M1/V1/M2 related</a:t>
            </a:r>
            <a:endParaRPr/>
          </a:p>
        </p:txBody>
      </p:sp>
      <p:sp>
        <p:nvSpPr>
          <p:cNvPr id="577" name="Google Shape;577;p20"/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8" name="Google Shape;578;p20"/>
          <p:cNvCxnSpPr/>
          <p:nvPr/>
        </p:nvCxnSpPr>
        <p:spPr>
          <a:xfrm rot="10800000">
            <a:off x="3964848" y="1477132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79" name="Google Shape;579;p20"/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M1.CO</a:t>
            </a:r>
            <a:endParaRPr/>
          </a:p>
        </p:txBody>
      </p:sp>
      <p:sp>
        <p:nvSpPr>
          <p:cNvPr id="580" name="Google Shape;580;p20"/>
          <p:cNvSpPr/>
          <p:nvPr/>
        </p:nvSpPr>
        <p:spPr>
          <a:xfrm rot="-5400000">
            <a:off x="786874" y="4283475"/>
            <a:ext cx="1980000" cy="19800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81" name="Google Shape;581;p20"/>
          <p:cNvSpPr/>
          <p:nvPr/>
        </p:nvSpPr>
        <p:spPr>
          <a:xfrm rot="-5400000">
            <a:off x="1056874" y="4553475"/>
            <a:ext cx="1440000" cy="144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82" name="Google Shape;582;p20"/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rgbClr val="E59DD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83" name="Google Shape;583;p20"/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0"/>
          <p:cNvSpPr/>
          <p:nvPr/>
        </p:nvSpPr>
        <p:spPr>
          <a:xfrm rot="-5400000">
            <a:off x="1386694" y="4883627"/>
            <a:ext cx="795158" cy="77969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85" name="Google Shape;585;p20"/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AC</a:t>
            </a:r>
            <a:endParaRPr/>
          </a:p>
        </p:txBody>
      </p:sp>
      <p:sp>
        <p:nvSpPr>
          <p:cNvPr id="586" name="Google Shape;586;p20"/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M1.CC</a:t>
            </a:r>
            <a:endParaRPr/>
          </a:p>
        </p:txBody>
      </p:sp>
      <p:sp>
        <p:nvSpPr>
          <p:cNvPr id="587" name="Google Shape;587;p20"/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8" name="Google Shape;588;p20"/>
          <p:cNvCxnSpPr/>
          <p:nvPr/>
        </p:nvCxnSpPr>
        <p:spPr>
          <a:xfrm rot="10800000">
            <a:off x="2026036" y="5431513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89" name="Google Shape;589;p20"/>
          <p:cNvSpPr/>
          <p:nvPr/>
        </p:nvSpPr>
        <p:spPr>
          <a:xfrm rot="-5400000">
            <a:off x="886101" y="4883627"/>
            <a:ext cx="274662" cy="779696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590" name="Google Shape;590;p20"/>
          <p:cNvCxnSpPr>
            <a:stCxn id="583" idx="2"/>
            <a:endCxn id="583" idx="0"/>
          </p:cNvCxnSpPr>
          <p:nvPr/>
        </p:nvCxnSpPr>
        <p:spPr>
          <a:xfrm rot="10800000">
            <a:off x="935520" y="4868089"/>
            <a:ext cx="0" cy="8445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91" name="Google Shape;591;p20"/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M1.SC</a:t>
            </a:r>
            <a:endParaRPr/>
          </a:p>
        </p:txBody>
      </p:sp>
      <p:sp>
        <p:nvSpPr>
          <p:cNvPr id="592" name="Google Shape;592;p20"/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3" name="Google Shape;593;p20"/>
          <p:cNvCxnSpPr/>
          <p:nvPr/>
        </p:nvCxnSpPr>
        <p:spPr>
          <a:xfrm rot="10800000">
            <a:off x="2747013" y="1524312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594" name="Google Shape;594;p20"/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M1.CL</a:t>
            </a:r>
            <a:endParaRPr/>
          </a:p>
        </p:txBody>
      </p:sp>
      <p:sp>
        <p:nvSpPr>
          <p:cNvPr id="595" name="Google Shape;595;p20"/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M1(C)</a:t>
            </a:r>
            <a:endParaRPr/>
          </a:p>
        </p:txBody>
      </p:sp>
      <p:sp>
        <p:nvSpPr>
          <p:cNvPr id="596" name="Google Shape;596;p20"/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CO(S)</a:t>
            </a:r>
            <a:endParaRPr/>
          </a:p>
        </p:txBody>
      </p:sp>
      <p:sp>
        <p:nvSpPr>
          <p:cNvPr id="597" name="Google Shape;597;p20"/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CO(L)</a:t>
            </a:r>
            <a:endParaRPr/>
          </a:p>
        </p:txBody>
      </p:sp>
      <p:sp>
        <p:nvSpPr>
          <p:cNvPr id="598" name="Google Shape;598;p20"/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CO(C)</a:t>
            </a:r>
            <a:endParaRPr/>
          </a:p>
        </p:txBody>
      </p:sp>
      <p:sp>
        <p:nvSpPr>
          <p:cNvPr id="599" name="Google Shape;599;p20"/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M1(C)：M1 in WN(C)</a:t>
            </a:r>
            <a:endParaRPr sz="1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CO(CC)：CO on AC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CO(S)：CO small contact </a:t>
            </a:r>
            <a:endParaRPr sz="1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CO(L)：CO large contact (only on AR)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M1(W)：Wide M1</a:t>
            </a:r>
            <a:endParaRPr/>
          </a:p>
        </p:txBody>
      </p:sp>
      <p:graphicFrame>
        <p:nvGraphicFramePr>
          <p:cNvPr id="600" name="Google Shape;600;p20"/>
          <p:cNvGraphicFramePr/>
          <p:nvPr/>
        </p:nvGraphicFramePr>
        <p:xfrm>
          <a:off x="7660658" y="28703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{A4022A17-9CB6-4FA6-88F5-1CA9CFE692F7}</a:tableStyleId>
              </a:tblPr>
              <a:tblGrid>
                <a:gridCol w="659375"/>
                <a:gridCol w="659375"/>
                <a:gridCol w="1023150"/>
                <a:gridCol w="780625"/>
                <a:gridCol w="598725"/>
                <a:gridCol w="598725"/>
              </a:tblGrid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Rule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L1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L2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Func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MIN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MAX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M1.W2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M1(W)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M1.SC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M1(C)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/>
                        <a:t>Smin/Smax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M1.CO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CO(S)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0.8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M1.CC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CO(CC)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1.3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M1.CL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CO(L)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M1.SW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M1(W)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Wfix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1.5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V1.M1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V1.GC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V1.CO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V1.CL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CO(L)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  <a:tr h="24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M2.V1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M2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V1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075" marB="0" marR="9075" marL="907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5" name="Google Shape;605;p21"/>
          <p:cNvGrpSpPr/>
          <p:nvPr/>
        </p:nvGrpSpPr>
        <p:grpSpPr>
          <a:xfrm>
            <a:off x="2716755" y="3961905"/>
            <a:ext cx="3459093" cy="1688920"/>
            <a:chOff x="2716754" y="1145009"/>
            <a:chExt cx="3459093" cy="1688920"/>
          </a:xfrm>
        </p:grpSpPr>
        <p:sp>
          <p:nvSpPr>
            <p:cNvPr id="606" name="Google Shape;606;p21"/>
            <p:cNvSpPr/>
            <p:nvPr/>
          </p:nvSpPr>
          <p:spPr>
            <a:xfrm flipH="1" rot="5400000">
              <a:off x="4444604" y="1102686"/>
              <a:ext cx="1688920" cy="1773565"/>
            </a:xfrm>
            <a:prstGeom prst="snip2SameRect">
              <a:avLst>
                <a:gd fmla="val 11411" name="adj1"/>
                <a:gd fmla="val 0" name="adj2"/>
              </a:avLst>
            </a:prstGeom>
            <a:solidFill>
              <a:srgbClr val="00B0F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" name="Google Shape;607;p21"/>
            <p:cNvSpPr/>
            <p:nvPr/>
          </p:nvSpPr>
          <p:spPr>
            <a:xfrm rot="-5400000">
              <a:off x="2724145" y="1137618"/>
              <a:ext cx="1688920" cy="1703702"/>
            </a:xfrm>
            <a:prstGeom prst="snip2SameRect">
              <a:avLst>
                <a:gd fmla="val 11411" name="adj1"/>
                <a:gd fmla="val 0" name="adj2"/>
              </a:avLst>
            </a:prstGeom>
            <a:solidFill>
              <a:srgbClr val="00B0F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8" name="Google Shape;608;p21"/>
          <p:cNvGrpSpPr/>
          <p:nvPr/>
        </p:nvGrpSpPr>
        <p:grpSpPr>
          <a:xfrm>
            <a:off x="2716754" y="1145009"/>
            <a:ext cx="3459093" cy="1688920"/>
            <a:chOff x="2716754" y="1145009"/>
            <a:chExt cx="3459093" cy="1688920"/>
          </a:xfrm>
        </p:grpSpPr>
        <p:sp>
          <p:nvSpPr>
            <p:cNvPr id="609" name="Google Shape;609;p21"/>
            <p:cNvSpPr/>
            <p:nvPr/>
          </p:nvSpPr>
          <p:spPr>
            <a:xfrm flipH="1" rot="5400000">
              <a:off x="4444604" y="1102686"/>
              <a:ext cx="1688920" cy="1773565"/>
            </a:xfrm>
            <a:prstGeom prst="snip2SameRect">
              <a:avLst>
                <a:gd fmla="val 11411" name="adj1"/>
                <a:gd fmla="val 0" name="adj2"/>
              </a:avLst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21"/>
            <p:cNvSpPr/>
            <p:nvPr/>
          </p:nvSpPr>
          <p:spPr>
            <a:xfrm rot="-5400000">
              <a:off x="2724145" y="1137618"/>
              <a:ext cx="1688920" cy="1703702"/>
            </a:xfrm>
            <a:prstGeom prst="snip2SameRect">
              <a:avLst>
                <a:gd fmla="val 11411" name="adj1"/>
                <a:gd fmla="val 0" name="adj2"/>
              </a:avLst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1" name="Google Shape;611;p21"/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21"/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13" name="Google Shape;613;p21"/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14" name="Google Shape;614;p21"/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15" name="Google Shape;615;p21"/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WN</a:t>
            </a:r>
            <a:endParaRPr/>
          </a:p>
        </p:txBody>
      </p:sp>
      <p:sp>
        <p:nvSpPr>
          <p:cNvPr id="616" name="Google Shape;616;p21"/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sp>
        <p:nvSpPr>
          <p:cNvPr id="617" name="Google Shape;617;p21"/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AP</a:t>
            </a:r>
            <a:endParaRPr/>
          </a:p>
        </p:txBody>
      </p:sp>
      <p:cxnSp>
        <p:nvCxnSpPr>
          <p:cNvPr id="618" name="Google Shape;618;p21"/>
          <p:cNvCxnSpPr/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19" name="Google Shape;619;p21"/>
          <p:cNvCxnSpPr/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20" name="Google Shape;620;p21"/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ANE.AP</a:t>
            </a:r>
            <a:endParaRPr/>
          </a:p>
        </p:txBody>
      </p:sp>
      <p:sp>
        <p:nvSpPr>
          <p:cNvPr id="621" name="Google Shape;621;p21"/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22" name="Google Shape;622;p21"/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GC</a:t>
            </a:r>
            <a:endParaRPr/>
          </a:p>
        </p:txBody>
      </p:sp>
      <p:sp>
        <p:nvSpPr>
          <p:cNvPr id="623" name="Google Shape;623;p21"/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AN</a:t>
            </a:r>
            <a:endParaRPr/>
          </a:p>
        </p:txBody>
      </p:sp>
      <p:sp>
        <p:nvSpPr>
          <p:cNvPr id="624" name="Google Shape;624;p21"/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APE.AN</a:t>
            </a:r>
            <a:endParaRPr/>
          </a:p>
        </p:txBody>
      </p:sp>
      <p:sp>
        <p:nvSpPr>
          <p:cNvPr id="625" name="Google Shape;625;p21"/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Cat-7: ESD MOS transistor related</a:t>
            </a:r>
            <a:endParaRPr/>
          </a:p>
        </p:txBody>
      </p:sp>
      <p:cxnSp>
        <p:nvCxnSpPr>
          <p:cNvPr id="626" name="Google Shape;626;p21"/>
          <p:cNvCxnSpPr/>
          <p:nvPr/>
        </p:nvCxnSpPr>
        <p:spPr>
          <a:xfrm rot="10800000">
            <a:off x="3119544" y="2434336"/>
            <a:ext cx="764975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27" name="Google Shape;627;p21"/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APE.LM</a:t>
            </a:r>
            <a:endParaRPr/>
          </a:p>
        </p:txBody>
      </p:sp>
      <p:sp>
        <p:nvSpPr>
          <p:cNvPr id="628" name="Google Shape;628;p21"/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ANE.WM</a:t>
            </a:r>
            <a:endParaRPr/>
          </a:p>
        </p:txBody>
      </p:sp>
      <p:sp>
        <p:nvSpPr>
          <p:cNvPr id="629" name="Google Shape;629;p21"/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21"/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1" name="Google Shape;631;p21"/>
          <p:cNvCxnSpPr/>
          <p:nvPr/>
        </p:nvCxnSpPr>
        <p:spPr>
          <a:xfrm rot="10800000">
            <a:off x="2695856" y="1853735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32" name="Google Shape;632;p21"/>
          <p:cNvCxnSpPr/>
          <p:nvPr/>
        </p:nvCxnSpPr>
        <p:spPr>
          <a:xfrm rot="10800000">
            <a:off x="2945836" y="1856648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33" name="Google Shape;633;p21"/>
          <p:cNvCxnSpPr/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34" name="Google Shape;634;p21"/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COE.S1</a:t>
            </a:r>
            <a:endParaRPr/>
          </a:p>
        </p:txBody>
      </p:sp>
      <p:sp>
        <p:nvSpPr>
          <p:cNvPr id="635" name="Google Shape;635;p21"/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COE.W1</a:t>
            </a:r>
            <a:endParaRPr/>
          </a:p>
        </p:txBody>
      </p:sp>
      <p:sp>
        <p:nvSpPr>
          <p:cNvPr id="636" name="Google Shape;636;p21"/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CSE.GC</a:t>
            </a:r>
            <a:endParaRPr/>
          </a:p>
        </p:txBody>
      </p:sp>
      <p:cxnSp>
        <p:nvCxnSpPr>
          <p:cNvPr id="637" name="Google Shape;637;p21"/>
          <p:cNvCxnSpPr/>
          <p:nvPr/>
        </p:nvCxnSpPr>
        <p:spPr>
          <a:xfrm rot="10800000">
            <a:off x="3913537" y="1557984"/>
            <a:ext cx="180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38" name="Google Shape;638;p21"/>
          <p:cNvCxnSpPr/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39" name="Google Shape;639;p21"/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APE.WM</a:t>
            </a:r>
            <a:endParaRPr/>
          </a:p>
        </p:txBody>
      </p:sp>
      <p:cxnSp>
        <p:nvCxnSpPr>
          <p:cNvPr id="640" name="Google Shape;640;p21"/>
          <p:cNvCxnSpPr/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41" name="Google Shape;641;p21"/>
          <p:cNvCxnSpPr/>
          <p:nvPr/>
        </p:nvCxnSpPr>
        <p:spPr>
          <a:xfrm rot="10800000">
            <a:off x="3126548" y="5158000"/>
            <a:ext cx="757971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42" name="Google Shape;642;p21"/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21"/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 rot="10800000">
            <a:off x="2952840" y="4580312"/>
            <a:ext cx="17370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45" name="Google Shape;645;p21"/>
          <p:cNvCxnSpPr/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46" name="Google Shape;646;p21"/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COE.S1</a:t>
            </a:r>
            <a:endParaRPr/>
          </a:p>
        </p:txBody>
      </p:sp>
      <p:sp>
        <p:nvSpPr>
          <p:cNvPr id="647" name="Google Shape;647;p21"/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COE.W1</a:t>
            </a:r>
            <a:endParaRPr/>
          </a:p>
        </p:txBody>
      </p:sp>
      <p:sp>
        <p:nvSpPr>
          <p:cNvPr id="648" name="Google Shape;648;p21"/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CSE.GC</a:t>
            </a:r>
            <a:endParaRPr/>
          </a:p>
        </p:txBody>
      </p:sp>
      <p:sp>
        <p:nvSpPr>
          <p:cNvPr id="649" name="Google Shape;649;p21"/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COE.AP</a:t>
            </a:r>
            <a:endParaRPr/>
          </a:p>
        </p:txBody>
      </p:sp>
      <p:cxnSp>
        <p:nvCxnSpPr>
          <p:cNvPr id="650" name="Google Shape;650;p21"/>
          <p:cNvCxnSpPr/>
          <p:nvPr/>
        </p:nvCxnSpPr>
        <p:spPr>
          <a:xfrm rot="10800000">
            <a:off x="2703848" y="4588023"/>
            <a:ext cx="232903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51" name="Google Shape;651;p21"/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COE.AN</a:t>
            </a:r>
            <a:endParaRPr/>
          </a:p>
        </p:txBody>
      </p:sp>
      <p:sp>
        <p:nvSpPr>
          <p:cNvPr id="652" name="Google Shape;652;p21"/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21"/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4" name="Google Shape;654;p21"/>
          <p:cNvCxnSpPr>
            <a:stCxn id="652" idx="1"/>
          </p:cNvCxnSpPr>
          <p:nvPr/>
        </p:nvCxnSpPr>
        <p:spPr>
          <a:xfrm flipH="1">
            <a:off x="4106510" y="5146663"/>
            <a:ext cx="1690800" cy="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55" name="Google Shape;655;p21"/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CDE.GC</a:t>
            </a:r>
            <a:endParaRPr/>
          </a:p>
        </p:txBody>
      </p:sp>
      <p:sp>
        <p:nvSpPr>
          <p:cNvPr id="656" name="Google Shape;656;p21"/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ANE.LM</a:t>
            </a:r>
            <a:endParaRPr/>
          </a:p>
        </p:txBody>
      </p:sp>
      <p:cxnSp>
        <p:nvCxnSpPr>
          <p:cNvPr id="657" name="Google Shape;657;p21"/>
          <p:cNvCxnSpPr/>
          <p:nvPr/>
        </p:nvCxnSpPr>
        <p:spPr>
          <a:xfrm rot="10800000">
            <a:off x="3913537" y="5500028"/>
            <a:ext cx="180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58" name="Google Shape;658;p21"/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21"/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60" name="Google Shape;660;p21"/>
          <p:cNvCxnSpPr/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61" name="Google Shape;661;p21"/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CDE.GC</a:t>
            </a:r>
            <a:endParaRPr/>
          </a:p>
        </p:txBody>
      </p:sp>
      <p:sp>
        <p:nvSpPr>
          <p:cNvPr id="662" name="Google Shape;662;p21"/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lgDash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21"/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ESD</a:t>
            </a:r>
            <a:endParaRPr/>
          </a:p>
        </p:txBody>
      </p:sp>
      <p:cxnSp>
        <p:nvCxnSpPr>
          <p:cNvPr id="664" name="Google Shape;664;p21"/>
          <p:cNvCxnSpPr/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65" name="Google Shape;665;p21"/>
          <p:cNvCxnSpPr/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66" name="Google Shape;666;p21"/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ANE.XY</a:t>
            </a:r>
            <a:endParaRPr/>
          </a:p>
        </p:txBody>
      </p:sp>
      <p:sp>
        <p:nvSpPr>
          <p:cNvPr id="667" name="Google Shape;667;p21"/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ANE.XY</a:t>
            </a:r>
            <a:endParaRPr/>
          </a:p>
        </p:txBody>
      </p:sp>
      <p:cxnSp>
        <p:nvCxnSpPr>
          <p:cNvPr id="668" name="Google Shape;668;p21"/>
          <p:cNvCxnSpPr/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69" name="Google Shape;669;p21"/>
          <p:cNvCxnSpPr/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70" name="Google Shape;670;p21"/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APE.XY</a:t>
            </a:r>
            <a:endParaRPr/>
          </a:p>
        </p:txBody>
      </p:sp>
      <p:sp>
        <p:nvSpPr>
          <p:cNvPr id="671" name="Google Shape;671;p21"/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APE.XY</a:t>
            </a:r>
            <a:endParaRPr/>
          </a:p>
        </p:txBody>
      </p:sp>
      <p:sp>
        <p:nvSpPr>
          <p:cNvPr id="672" name="Google Shape;672;p21"/>
          <p:cNvSpPr/>
          <p:nvPr/>
        </p:nvSpPr>
        <p:spPr>
          <a:xfrm>
            <a:off x="5042324" y="3319036"/>
            <a:ext cx="2032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id="673" name="Google Shape;673;p21"/>
          <p:cNvCxnSpPr/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674" name="Google Shape;674;p21"/>
          <p:cNvCxnSpPr/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75" name="Google Shape;675;p21"/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APE.CO</a:t>
            </a:r>
            <a:endParaRPr/>
          </a:p>
        </p:txBody>
      </p:sp>
      <p:sp>
        <p:nvSpPr>
          <p:cNvPr id="676" name="Google Shape;676;p21"/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ANE.CO</a:t>
            </a:r>
            <a:endParaRPr/>
          </a:p>
        </p:txBody>
      </p:sp>
      <p:sp>
        <p:nvSpPr>
          <p:cNvPr id="677" name="Google Shape;677;p21"/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SOURCE</a:t>
            </a:r>
            <a:endParaRPr/>
          </a:p>
        </p:txBody>
      </p:sp>
      <p:sp>
        <p:nvSpPr>
          <p:cNvPr id="678" name="Google Shape;678;p21"/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DRAIN</a:t>
            </a:r>
            <a:endParaRPr/>
          </a:p>
        </p:txBody>
      </p:sp>
      <p:sp>
        <p:nvSpPr>
          <p:cNvPr id="679" name="Google Shape;679;p21"/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SOURCE</a:t>
            </a:r>
            <a:endParaRPr/>
          </a:p>
        </p:txBody>
      </p:sp>
      <p:sp>
        <p:nvSpPr>
          <p:cNvPr id="680" name="Google Shape;680;p21"/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DRAIN</a:t>
            </a:r>
            <a:endParaRPr/>
          </a:p>
        </p:txBody>
      </p:sp>
      <p:sp>
        <p:nvSpPr>
          <p:cNvPr id="681" name="Google Shape;681;p21"/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APE/ANE)：AP/AN on ESD)</a:t>
            </a:r>
            <a:endParaRPr sz="1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CO(E)：CO on ESD</a:t>
            </a:r>
            <a:endParaRPr/>
          </a:p>
        </p:txBody>
      </p:sp>
      <p:graphicFrame>
        <p:nvGraphicFramePr>
          <p:cNvPr id="682" name="Google Shape;682;p21"/>
          <p:cNvGraphicFramePr/>
          <p:nvPr/>
        </p:nvGraphicFramePr>
        <p:xfrm>
          <a:off x="7591768" y="29960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{A4022A17-9CB6-4FA6-88F5-1CA9CFE692F7}</a:tableStyleId>
              </a:tblPr>
              <a:tblGrid>
                <a:gridCol w="659375"/>
                <a:gridCol w="659375"/>
                <a:gridCol w="1023150"/>
                <a:gridCol w="780625"/>
                <a:gridCol w="598725"/>
                <a:gridCol w="598725"/>
              </a:tblGrid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Rule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L1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L2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Func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MIN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MAX</a:t>
                      </a:r>
                      <a:endParaRPr b="1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APE.WM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PMOSE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APE-GC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60.0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APE.LM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PMOSE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GC-ANE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APE.XY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Bevel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XYmin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APE.CO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ANE.WM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NMOSE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ANE-GC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11.0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60.0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ANE.LM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NMOSE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GC-ANE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Lmin/max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ANE.AP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10.0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ANE.XY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Bevel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XYmin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1.4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ANE.CO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ANE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2.0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COE.W1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CO(E) 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Wfix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COE.S1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CO(E) 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/>
                        <a:t>CO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1.6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CDE.GC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CD(E)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7.0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CSE.GC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CS(E)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GC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Smin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3.0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COE.AP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CO(E) 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AP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4.0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COE.AN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CO(E) 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AN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Emin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4.0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JP" sz="1100" u="none" cap="none" strike="noStrike"/>
                        <a:t> </a:t>
                      </a:r>
                      <a:endParaRPr b="0" i="0" sz="110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p22"/>
          <p:cNvSpPr/>
          <p:nvPr/>
        </p:nvSpPr>
        <p:spPr>
          <a:xfrm rot="-5400000">
            <a:off x="775004" y="1024670"/>
            <a:ext cx="3600000" cy="360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88" name="Google Shape;688;p22"/>
          <p:cNvSpPr/>
          <p:nvPr/>
        </p:nvSpPr>
        <p:spPr>
          <a:xfrm rot="-5400000">
            <a:off x="955004" y="1204670"/>
            <a:ext cx="3240000" cy="3240000"/>
          </a:xfrm>
          <a:prstGeom prst="rect">
            <a:avLst/>
          </a:prstGeom>
          <a:solidFill>
            <a:srgbClr val="FAE2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689" name="Google Shape;689;p22"/>
          <p:cNvCxnSpPr/>
          <p:nvPr/>
        </p:nvCxnSpPr>
        <p:spPr>
          <a:xfrm rot="10800000">
            <a:off x="775003" y="2004938"/>
            <a:ext cx="54102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90" name="Google Shape;690;p22"/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M1.PO</a:t>
            </a:r>
            <a:endParaRPr/>
          </a:p>
        </p:txBody>
      </p:sp>
      <p:sp>
        <p:nvSpPr>
          <p:cNvPr id="691" name="Google Shape;691;p22"/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Cat-8: PAD related</a:t>
            </a:r>
            <a:endParaRPr/>
          </a:p>
        </p:txBody>
      </p:sp>
      <p:sp>
        <p:nvSpPr>
          <p:cNvPr id="692" name="Google Shape;692;p22"/>
          <p:cNvSpPr/>
          <p:nvPr/>
        </p:nvSpPr>
        <p:spPr>
          <a:xfrm rot="-5400000">
            <a:off x="1315004" y="1564670"/>
            <a:ext cx="2520000" cy="252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0070C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93" name="Google Shape;693;p22"/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M2(P)</a:t>
            </a:r>
            <a:endParaRPr/>
          </a:p>
        </p:txBody>
      </p:sp>
      <p:sp>
        <p:nvSpPr>
          <p:cNvPr id="694" name="Google Shape;694;p22"/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M1(P)</a:t>
            </a:r>
            <a:endParaRPr/>
          </a:p>
        </p:txBody>
      </p:sp>
      <p:cxnSp>
        <p:nvCxnSpPr>
          <p:cNvPr id="695" name="Google Shape;695;p22"/>
          <p:cNvCxnSpPr/>
          <p:nvPr/>
        </p:nvCxnSpPr>
        <p:spPr>
          <a:xfrm rot="10800000">
            <a:off x="955003" y="2520946"/>
            <a:ext cx="3600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696" name="Google Shape;696;p22"/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PO</a:t>
            </a:r>
            <a:endParaRPr/>
          </a:p>
        </p:txBody>
      </p:sp>
      <p:sp>
        <p:nvSpPr>
          <p:cNvPr id="697" name="Google Shape;697;p22"/>
          <p:cNvSpPr/>
          <p:nvPr/>
        </p:nvSpPr>
        <p:spPr>
          <a:xfrm rot="-5400000">
            <a:off x="4014158" y="2037023"/>
            <a:ext cx="3600000" cy="1575293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98" name="Google Shape;698;p22"/>
          <p:cNvSpPr/>
          <p:nvPr/>
        </p:nvSpPr>
        <p:spPr>
          <a:xfrm rot="-5400000">
            <a:off x="4284156" y="2127024"/>
            <a:ext cx="3240000" cy="1395292"/>
          </a:xfrm>
          <a:prstGeom prst="rect">
            <a:avLst/>
          </a:prstGeom>
          <a:solidFill>
            <a:srgbClr val="FAE2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99" name="Google Shape;699;p22"/>
          <p:cNvSpPr/>
          <p:nvPr/>
        </p:nvSpPr>
        <p:spPr>
          <a:xfrm rot="-5400000">
            <a:off x="4824156" y="2307024"/>
            <a:ext cx="2520000" cy="1035291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0070C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00" name="Google Shape;700;p22"/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PO</a:t>
            </a:r>
            <a:endParaRPr/>
          </a:p>
        </p:txBody>
      </p:sp>
      <p:cxnSp>
        <p:nvCxnSpPr>
          <p:cNvPr id="701" name="Google Shape;701;p22"/>
          <p:cNvCxnSpPr/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702" name="Google Shape;702;p22"/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</a:t>
            </a:r>
            <a:endParaRPr/>
          </a:p>
        </p:txBody>
      </p:sp>
      <p:sp>
        <p:nvSpPr>
          <p:cNvPr id="703" name="Google Shape;703;p22"/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</a:t>
            </a:r>
            <a:endParaRPr/>
          </a:p>
        </p:txBody>
      </p:sp>
      <p:cxnSp>
        <p:nvCxnSpPr>
          <p:cNvPr id="704" name="Google Shape;704;p22"/>
          <p:cNvCxnSpPr/>
          <p:nvPr/>
        </p:nvCxnSpPr>
        <p:spPr>
          <a:xfrm rot="10800000">
            <a:off x="1330493" y="3416715"/>
            <a:ext cx="2504511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705" name="Google Shape;705;p22"/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V1(P)</a:t>
            </a:r>
            <a:endParaRPr/>
          </a:p>
        </p:txBody>
      </p:sp>
      <p:sp>
        <p:nvSpPr>
          <p:cNvPr id="706" name="Google Shape;706;p22"/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M2.PO</a:t>
            </a:r>
            <a:endParaRPr/>
          </a:p>
        </p:txBody>
      </p:sp>
      <p:sp>
        <p:nvSpPr>
          <p:cNvPr id="707" name="Google Shape;707;p22"/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PO.W1</a:t>
            </a:r>
            <a:endParaRPr/>
          </a:p>
        </p:txBody>
      </p:sp>
      <p:sp>
        <p:nvSpPr>
          <p:cNvPr id="708" name="Google Shape;708;p22"/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PO.S1</a:t>
            </a:r>
            <a:endParaRPr/>
          </a:p>
        </p:txBody>
      </p:sp>
      <p:cxnSp>
        <p:nvCxnSpPr>
          <p:cNvPr id="709" name="Google Shape;709;p22"/>
          <p:cNvCxnSpPr/>
          <p:nvPr/>
        </p:nvCxnSpPr>
        <p:spPr>
          <a:xfrm rot="10800000">
            <a:off x="3456467" y="2255100"/>
            <a:ext cx="353228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710" name="Google Shape;710;p22"/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PO.V1</a:t>
            </a:r>
            <a:endParaRPr/>
          </a:p>
        </p:txBody>
      </p:sp>
      <p:sp>
        <p:nvSpPr>
          <p:cNvPr id="711" name="Google Shape;711;p22"/>
          <p:cNvSpPr/>
          <p:nvPr/>
        </p:nvSpPr>
        <p:spPr>
          <a:xfrm rot="-5400000">
            <a:off x="1082143" y="4317529"/>
            <a:ext cx="1083346" cy="1337627"/>
          </a:xfrm>
          <a:prstGeom prst="rect">
            <a:avLst/>
          </a:prstGeom>
          <a:solidFill>
            <a:srgbClr val="FAE2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12" name="Google Shape;712;p22"/>
          <p:cNvSpPr/>
          <p:nvPr/>
        </p:nvSpPr>
        <p:spPr>
          <a:xfrm rot="-5400000">
            <a:off x="756169" y="5592204"/>
            <a:ext cx="1083346" cy="685678"/>
          </a:xfrm>
          <a:prstGeom prst="rect">
            <a:avLst/>
          </a:prstGeom>
          <a:solidFill>
            <a:srgbClr val="FAE2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13" name="Google Shape;713;p22"/>
          <p:cNvSpPr/>
          <p:nvPr/>
        </p:nvSpPr>
        <p:spPr>
          <a:xfrm rot="-5400000">
            <a:off x="3026583" y="4353734"/>
            <a:ext cx="999218" cy="133762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14" name="Google Shape;714;p22"/>
          <p:cNvSpPr/>
          <p:nvPr/>
        </p:nvSpPr>
        <p:spPr>
          <a:xfrm rot="-5400000">
            <a:off x="3307845" y="5592204"/>
            <a:ext cx="1083346" cy="685678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715" name="Google Shape;715;p22"/>
          <p:cNvCxnSpPr/>
          <p:nvPr/>
        </p:nvCxnSpPr>
        <p:spPr>
          <a:xfrm rot="10800000">
            <a:off x="935440" y="4874033"/>
            <a:ext cx="135719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716" name="Google Shape;716;p22"/>
          <p:cNvCxnSpPr/>
          <p:nvPr/>
        </p:nvCxnSpPr>
        <p:spPr>
          <a:xfrm rot="10800000">
            <a:off x="2077639" y="4084670"/>
            <a:ext cx="0" cy="146769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717" name="Google Shape;717;p22"/>
          <p:cNvCxnSpPr/>
          <p:nvPr/>
        </p:nvCxnSpPr>
        <p:spPr>
          <a:xfrm rot="10800000">
            <a:off x="2862793" y="4874033"/>
            <a:ext cx="135719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cxnSp>
        <p:nvCxnSpPr>
          <p:cNvPr id="718" name="Google Shape;718;p22"/>
          <p:cNvCxnSpPr/>
          <p:nvPr/>
        </p:nvCxnSpPr>
        <p:spPr>
          <a:xfrm rot="10800000">
            <a:off x="3071488" y="4084669"/>
            <a:ext cx="0" cy="146769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719" name="Google Shape;719;p22"/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 cap="flat" cmpd="sng" w="19050">
            <a:solidFill>
              <a:srgbClr val="FF0000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720" name="Google Shape;720;p22"/>
          <p:cNvCxnSpPr/>
          <p:nvPr/>
        </p:nvCxnSpPr>
        <p:spPr>
          <a:xfrm rot="10800000">
            <a:off x="5712445" y="4084669"/>
            <a:ext cx="0" cy="1467695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med" w="med" type="triangle"/>
            <a:tailEnd len="med" w="med" type="triangle"/>
          </a:ln>
        </p:spPr>
      </p:cxnSp>
      <p:sp>
        <p:nvSpPr>
          <p:cNvPr id="721" name="Google Shape;721;p22"/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AA/GC/M1/M2</a:t>
            </a:r>
            <a:endParaRPr/>
          </a:p>
        </p:txBody>
      </p:sp>
      <p:sp>
        <p:nvSpPr>
          <p:cNvPr id="722" name="Google Shape;722;p22"/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PO.XX</a:t>
            </a:r>
            <a:endParaRPr/>
          </a:p>
        </p:txBody>
      </p:sp>
      <p:sp>
        <p:nvSpPr>
          <p:cNvPr id="723" name="Google Shape;723;p22"/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M1.PE</a:t>
            </a:r>
            <a:endParaRPr/>
          </a:p>
        </p:txBody>
      </p:sp>
      <p:sp>
        <p:nvSpPr>
          <p:cNvPr id="724" name="Google Shape;724;p22"/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M2.PE</a:t>
            </a:r>
            <a:endParaRPr/>
          </a:p>
        </p:txBody>
      </p:sp>
      <p:sp>
        <p:nvSpPr>
          <p:cNvPr id="725" name="Google Shape;725;p22"/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M2.PW</a:t>
            </a:r>
            <a:endParaRPr/>
          </a:p>
        </p:txBody>
      </p:sp>
      <p:sp>
        <p:nvSpPr>
          <p:cNvPr id="726" name="Google Shape;726;p22"/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JP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M1.PW</a:t>
            </a:r>
            <a:endParaRPr/>
          </a:p>
        </p:txBody>
      </p:sp>
      <p:graphicFrame>
        <p:nvGraphicFramePr>
          <p:cNvPr id="727" name="Google Shape;727;p22"/>
          <p:cNvGraphicFramePr/>
          <p:nvPr/>
        </p:nvGraphicFramePr>
        <p:xfrm>
          <a:off x="7740000" y="540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{A4022A17-9CB6-4FA6-88F5-1CA9CFE692F7}</a:tableStyleId>
              </a:tblPr>
              <a:tblGrid>
                <a:gridCol w="652050"/>
                <a:gridCol w="652050"/>
                <a:gridCol w="1011800"/>
                <a:gridCol w="771950"/>
                <a:gridCol w="592075"/>
                <a:gridCol w="592075"/>
              </a:tblGrid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Rule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L1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L2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Func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MIN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MAX</a:t>
                      </a:r>
                      <a:endParaRPr b="1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PO.W1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Wmin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70.0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PO.S1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64.0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M2.PO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M2(P)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M1.PO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M1(P)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PO.V1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V1(P)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10.0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PO.AP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AP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14.0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PO.AN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14.0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PO.GC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GC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14.0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PO.M1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M1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14.0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PO.M2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14.0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M2.PE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Extention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19.0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M2.PW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Extention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Wmin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40.0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M1.PE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Extention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19.0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  <a:tr h="254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M1.PW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M2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Extention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Wmin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40.0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ourier New"/>
                        <a:buNone/>
                      </a:pPr>
                      <a:r>
                        <a:rPr lang="en-JP" sz="1050" u="none" cap="none" strike="noStrik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 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525" marB="0" marR="9525" marL="9525" anchor="ctr"/>
                </a:tc>
              </a:tr>
            </a:tbl>
          </a:graphicData>
        </a:graphic>
      </p:graphicFrame>
      <p:sp>
        <p:nvSpPr>
          <p:cNvPr id="728" name="Google Shape;728;p22"/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 cap="flat" cmpd="sng" w="19050">
            <a:solidFill>
              <a:srgbClr val="FFC000"/>
            </a:solidFill>
            <a:prstDash val="dash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29" name="Google Shape;729;p22"/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FFC000"/>
                </a:solidFill>
                <a:latin typeface="Meiryo"/>
                <a:ea typeface="Meiryo"/>
                <a:cs typeface="Meiryo"/>
                <a:sym typeface="Meiryo"/>
              </a:rPr>
              <a:t>** Not yet implemented</a:t>
            </a:r>
            <a:endParaRPr/>
          </a:p>
        </p:txBody>
      </p:sp>
      <p:sp>
        <p:nvSpPr>
          <p:cNvPr id="730" name="Google Shape;730;p22"/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M1(P)：M1 on PO</a:t>
            </a:r>
            <a:endParaRPr sz="1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M2(P)：M2 on PO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V1(P)：V1 on PO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2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JP"/>
              <a:t>Design Rule cotrol</a:t>
            </a:r>
            <a:endParaRPr/>
          </a:p>
        </p:txBody>
      </p:sp>
      <p:sp>
        <p:nvSpPr>
          <p:cNvPr id="736" name="Google Shape;736;p2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JP"/>
              <a:t>DRC integrity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24"/>
          <p:cNvSpPr txBox="1"/>
          <p:nvPr>
            <p:ph type="title"/>
          </p:nvPr>
        </p:nvSpPr>
        <p:spPr>
          <a:xfrm>
            <a:off x="1017270" y="795210"/>
            <a:ext cx="2880000" cy="789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eiryo"/>
              <a:buNone/>
            </a:pPr>
            <a:r>
              <a:rPr lang="en-JP">
                <a:latin typeface="Meiryo"/>
                <a:ea typeface="Meiryo"/>
                <a:cs typeface="Meiryo"/>
                <a:sym typeface="Meiryo"/>
              </a:rPr>
              <a:t>DRC</a:t>
            </a:r>
            <a:endParaRPr/>
          </a:p>
        </p:txBody>
      </p:sp>
      <p:sp>
        <p:nvSpPr>
          <p:cNvPr id="743" name="Google Shape;743;p24"/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run.drc</a:t>
            </a:r>
            <a:endParaRPr/>
          </a:p>
        </p:txBody>
      </p:sp>
      <p:sp>
        <p:nvSpPr>
          <p:cNvPr id="744" name="Google Shape;744;p24"/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DR_Table.xls</a:t>
            </a:r>
            <a:endParaRPr/>
          </a:p>
        </p:txBody>
      </p:sp>
      <p:sp>
        <p:nvSpPr>
          <p:cNvPr id="745" name="Google Shape;745;p24"/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python/*.py</a:t>
            </a:r>
            <a:endParaRPr/>
          </a:p>
        </p:txBody>
      </p:sp>
      <p:sp>
        <p:nvSpPr>
          <p:cNvPr id="746" name="Google Shape;746;p24"/>
          <p:cNvSpPr txBox="1"/>
          <p:nvPr/>
        </p:nvSpPr>
        <p:spPr>
          <a:xfrm>
            <a:off x="4656000" y="795209"/>
            <a:ext cx="2880000" cy="789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Meiryo"/>
              <a:buNone/>
            </a:pPr>
            <a:r>
              <a:rPr lang="en-JP" sz="4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Document</a:t>
            </a:r>
            <a:endParaRPr/>
          </a:p>
        </p:txBody>
      </p:sp>
      <p:sp>
        <p:nvSpPr>
          <p:cNvPr id="747" name="Google Shape;747;p24"/>
          <p:cNvSpPr txBox="1"/>
          <p:nvPr/>
        </p:nvSpPr>
        <p:spPr>
          <a:xfrm>
            <a:off x="8294730" y="795209"/>
            <a:ext cx="2880000" cy="789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eiryo"/>
              <a:buNone/>
            </a:pPr>
            <a:r>
              <a:rPr lang="en-JP" sz="4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PCell</a:t>
            </a:r>
            <a:endParaRPr/>
          </a:p>
        </p:txBody>
      </p:sp>
      <p:sp>
        <p:nvSpPr>
          <p:cNvPr id="748" name="Google Shape;748;p24"/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python/rules_def.py</a:t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49" name="Google Shape;749;p24"/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DRC_summary.ppt</a:t>
            </a:r>
            <a:endParaRPr/>
          </a:p>
        </p:txBody>
      </p:sp>
      <p:sp>
        <p:nvSpPr>
          <p:cNvPr id="750" name="Google Shape;750;p24"/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51" name="Google Shape;751;p24"/>
          <p:cNvCxnSpPr>
            <a:stCxn id="744" idx="1"/>
            <a:endCxn id="743" idx="3"/>
          </p:cNvCxnSpPr>
          <p:nvPr/>
        </p:nvCxnSpPr>
        <p:spPr>
          <a:xfrm rot="10800000">
            <a:off x="3897300" y="2477355"/>
            <a:ext cx="7587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752" name="Google Shape;752;p24"/>
          <p:cNvCxnSpPr>
            <a:stCxn id="744" idx="3"/>
            <a:endCxn id="748" idx="1"/>
          </p:cNvCxnSpPr>
          <p:nvPr/>
        </p:nvCxnSpPr>
        <p:spPr>
          <a:xfrm>
            <a:off x="7536000" y="2477355"/>
            <a:ext cx="7587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753" name="Google Shape;753;p24"/>
          <p:cNvCxnSpPr>
            <a:stCxn id="748" idx="2"/>
            <a:endCxn id="745" idx="0"/>
          </p:cNvCxnSpPr>
          <p:nvPr/>
        </p:nvCxnSpPr>
        <p:spPr>
          <a:xfrm>
            <a:off x="9734730" y="2837355"/>
            <a:ext cx="0" cy="12462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754" name="Google Shape;754;p24"/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DR_csv2drc.py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24"/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DR_csv2py.py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24"/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Method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57" name="Google Shape;757;p24"/>
          <p:cNvCxnSpPr>
            <a:stCxn id="744" idx="2"/>
            <a:endCxn id="749" idx="0"/>
          </p:cNvCxnSpPr>
          <p:nvPr/>
        </p:nvCxnSpPr>
        <p:spPr>
          <a:xfrm>
            <a:off x="6096000" y="2837355"/>
            <a:ext cx="0" cy="12462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758" name="Google Shape;758;p24"/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Cut &amp; Paste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24"/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# ALL Critical Dimension parameters are referenced by ‘XX.YY’ rule’s name.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2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JP"/>
              <a:t>Design to Tapeout Process</a:t>
            </a:r>
            <a:endParaRPr/>
          </a:p>
        </p:txBody>
      </p:sp>
      <p:sp>
        <p:nvSpPr>
          <p:cNvPr id="765" name="Google Shape;765;p2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JP"/>
              <a:t>Mask Data Preparation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26"/>
          <p:cNvSpPr txBox="1"/>
          <p:nvPr>
            <p:ph type="title"/>
          </p:nvPr>
        </p:nvSpPr>
        <p:spPr>
          <a:xfrm>
            <a:off x="1017270" y="795210"/>
            <a:ext cx="2880000" cy="789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eiryo"/>
              <a:buNone/>
            </a:pPr>
            <a:r>
              <a:rPr lang="en-JP">
                <a:latin typeface="Meiryo"/>
                <a:ea typeface="Meiryo"/>
                <a:cs typeface="Meiryo"/>
                <a:sym typeface="Meiryo"/>
              </a:rPr>
              <a:t>Designer</a:t>
            </a:r>
            <a:endParaRPr/>
          </a:p>
        </p:txBody>
      </p:sp>
      <p:sp>
        <p:nvSpPr>
          <p:cNvPr id="772" name="Google Shape;772;p26"/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6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TR-1um_USER_Project</a:t>
            </a:r>
            <a:endParaRPr sz="16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73" name="Google Shape;773;p26"/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TR-1um_MPW_template</a:t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74" name="Google Shape;774;p26"/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Fabrication</a:t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75" name="Google Shape;775;p26"/>
          <p:cNvSpPr txBox="1"/>
          <p:nvPr/>
        </p:nvSpPr>
        <p:spPr>
          <a:xfrm>
            <a:off x="4656000" y="795209"/>
            <a:ext cx="2880000" cy="789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Meiryo"/>
              <a:buNone/>
            </a:pPr>
            <a:r>
              <a:rPr lang="en-JP" sz="4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OpenSUSI</a:t>
            </a:r>
            <a:endParaRPr/>
          </a:p>
        </p:txBody>
      </p:sp>
      <p:sp>
        <p:nvSpPr>
          <p:cNvPr id="776" name="Google Shape;776;p26"/>
          <p:cNvSpPr txBox="1"/>
          <p:nvPr/>
        </p:nvSpPr>
        <p:spPr>
          <a:xfrm>
            <a:off x="8294730" y="795209"/>
            <a:ext cx="2880000" cy="789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Meiryo"/>
              <a:buNone/>
            </a:pPr>
            <a:r>
              <a:rPr lang="en-JP" sz="44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Tokai Rika</a:t>
            </a:r>
            <a:endParaRPr/>
          </a:p>
        </p:txBody>
      </p:sp>
      <p:sp>
        <p:nvSpPr>
          <p:cNvPr id="777" name="Google Shape;777;p26"/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Signoff DRC</a:t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78" name="Google Shape;778;p26"/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TR-1um_MPW_XXX</a:t>
            </a:r>
            <a:endParaRPr/>
          </a:p>
        </p:txBody>
      </p:sp>
      <p:sp>
        <p:nvSpPr>
          <p:cNvPr id="779" name="Google Shape;779;p26"/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0" name="Google Shape;780;p26"/>
          <p:cNvCxnSpPr>
            <a:stCxn id="773" idx="1"/>
            <a:endCxn id="772" idx="3"/>
          </p:cNvCxnSpPr>
          <p:nvPr/>
        </p:nvCxnSpPr>
        <p:spPr>
          <a:xfrm rot="10800000">
            <a:off x="3897300" y="2099945"/>
            <a:ext cx="7587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781" name="Google Shape;781;p26"/>
          <p:cNvCxnSpPr>
            <a:stCxn id="777" idx="2"/>
            <a:endCxn id="774" idx="0"/>
          </p:cNvCxnSpPr>
          <p:nvPr/>
        </p:nvCxnSpPr>
        <p:spPr>
          <a:xfrm>
            <a:off x="9734730" y="2459945"/>
            <a:ext cx="0" cy="609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782" name="Google Shape;782;p26"/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[clone]</a:t>
            </a:r>
            <a:endParaRPr sz="1800">
              <a:solidFill>
                <a:srgbClr val="7030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26"/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6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TR-1um_USER_Project</a:t>
            </a:r>
            <a:endParaRPr sz="16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784" name="Google Shape;784;p26"/>
          <p:cNvCxnSpPr>
            <a:stCxn id="772" idx="2"/>
            <a:endCxn id="783" idx="0"/>
          </p:cNvCxnSpPr>
          <p:nvPr/>
        </p:nvCxnSpPr>
        <p:spPr>
          <a:xfrm>
            <a:off x="2457270" y="2459945"/>
            <a:ext cx="0" cy="609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785" name="Google Shape;785;p26"/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[push]</a:t>
            </a:r>
            <a:endParaRPr sz="1800">
              <a:solidFill>
                <a:srgbClr val="7030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26"/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local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26"/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remote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26"/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6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TR-1um_USER_Project</a:t>
            </a:r>
            <a:endParaRPr sz="16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789" name="Google Shape;789;p26"/>
          <p:cNvCxnSpPr>
            <a:stCxn id="783" idx="2"/>
            <a:endCxn id="788" idx="0"/>
          </p:cNvCxnSpPr>
          <p:nvPr/>
        </p:nvCxnSpPr>
        <p:spPr>
          <a:xfrm>
            <a:off x="2457269" y="3789000"/>
            <a:ext cx="0" cy="1283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790" name="Google Shape;790;p26"/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[action]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Precheck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DRC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MDP</a:t>
            </a:r>
            <a:endParaRPr/>
          </a:p>
        </p:txBody>
      </p:sp>
      <p:cxnSp>
        <p:nvCxnSpPr>
          <p:cNvPr id="791" name="Google Shape;791;p26"/>
          <p:cNvCxnSpPr>
            <a:stCxn id="788" idx="3"/>
            <a:endCxn id="778" idx="1"/>
          </p:cNvCxnSpPr>
          <p:nvPr/>
        </p:nvCxnSpPr>
        <p:spPr>
          <a:xfrm flipH="1" rot="10800000">
            <a:off x="3897269" y="3428858"/>
            <a:ext cx="758700" cy="2003100"/>
          </a:xfrm>
          <a:prstGeom prst="bentConnector3">
            <a:avLst>
              <a:gd fmla="val 50000" name="adj1"/>
            </a:avLst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792" name="Google Shape;792;p26"/>
          <p:cNvSpPr txBox="1"/>
          <p:nvPr/>
        </p:nvSpPr>
        <p:spPr>
          <a:xfrm rot="-5400000">
            <a:off x="3166659" y="4070687"/>
            <a:ext cx="1850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[Import artifact]</a:t>
            </a:r>
            <a:endParaRPr sz="1800">
              <a:solidFill>
                <a:srgbClr val="7030A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26"/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TR-1um_MPW_XXX</a:t>
            </a:r>
            <a:endParaRPr/>
          </a:p>
        </p:txBody>
      </p:sp>
      <p:cxnSp>
        <p:nvCxnSpPr>
          <p:cNvPr id="794" name="Google Shape;794;p26"/>
          <p:cNvCxnSpPr>
            <a:stCxn id="778" idx="2"/>
            <a:endCxn id="793" idx="0"/>
          </p:cNvCxnSpPr>
          <p:nvPr/>
        </p:nvCxnSpPr>
        <p:spPr>
          <a:xfrm>
            <a:off x="6096000" y="3789000"/>
            <a:ext cx="0" cy="1283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795" name="Google Shape;795;p26"/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[action]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Logo insertion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Aggregation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rPr>
              <a:t>DRC</a:t>
            </a:r>
            <a:endParaRPr/>
          </a:p>
        </p:txBody>
      </p:sp>
      <p:cxnSp>
        <p:nvCxnSpPr>
          <p:cNvPr id="796" name="Google Shape;796;p26"/>
          <p:cNvCxnSpPr>
            <a:stCxn id="793" idx="3"/>
            <a:endCxn id="777" idx="1"/>
          </p:cNvCxnSpPr>
          <p:nvPr/>
        </p:nvCxnSpPr>
        <p:spPr>
          <a:xfrm flipH="1" rot="10800000">
            <a:off x="7535989" y="2099857"/>
            <a:ext cx="758700" cy="3332100"/>
          </a:xfrm>
          <a:prstGeom prst="bentConnector3">
            <a:avLst>
              <a:gd fmla="val 50003" name="adj1"/>
            </a:avLst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sp>
        <p:nvSpPr>
          <p:cNvPr id="797" name="Google Shape;797;p26"/>
          <p:cNvSpPr txBox="1"/>
          <p:nvPr/>
        </p:nvSpPr>
        <p:spPr>
          <a:xfrm rot="-5400000">
            <a:off x="6695949" y="3581880"/>
            <a:ext cx="282821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Download GDSII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26"/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PCM TEST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JP" sz="1800">
                <a:solidFill>
                  <a:schemeClr val="lt1"/>
                </a:solidFill>
                <a:latin typeface="Meiryo"/>
                <a:ea typeface="Meiryo"/>
                <a:cs typeface="Meiryo"/>
                <a:sym typeface="Meiryo"/>
              </a:rPr>
              <a:t>Wafer out</a:t>
            </a: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799" name="Google Shape;799;p26"/>
          <p:cNvCxnSpPr>
            <a:stCxn id="774" idx="2"/>
            <a:endCxn id="798" idx="0"/>
          </p:cNvCxnSpPr>
          <p:nvPr/>
        </p:nvCxnSpPr>
        <p:spPr>
          <a:xfrm>
            <a:off x="9734719" y="3789000"/>
            <a:ext cx="0" cy="1283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